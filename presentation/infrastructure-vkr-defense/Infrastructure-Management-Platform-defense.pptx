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EEF47-C094-4555-B7DE-A876D8320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5CE2AF-FFAE-4D35-8ECC-790456C30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A6A44-5605-4809-9302-B99B42CF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01E585-6D1F-493E-B4EF-10EAF3FA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7AF9BA-720D-45E0-B4DE-51BC8C5D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46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4907D-B2D0-41C9-8A32-67D527BF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CBD9AE-FCB1-4423-8978-9E43FF3E3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2CD2CA-E34A-43E2-8E40-2BD0ADAB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A808E5-33B0-44F1-BBA6-80F984DF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7CFC95-8526-45BC-A6D0-F69991FC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85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8BBFF-5161-4D6A-AAC6-249ED33ED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961F28-CF71-4121-A372-2145C7FF5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985ABB-F67D-41F3-97BA-8A90486C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A00C30-05AC-4320-8CB0-7CB3E537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AF293B-AED7-4FB0-9577-F5C6AEE9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72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14AA-FF4E-4658-B837-AA87400E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8B95A-8A8B-441C-97E9-68CD6825B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142D08-2A8F-4E69-AD28-7F4D21F1B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69BA1A-134B-42F9-9FA1-DF9CDCD3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B637CE-5FF1-49A0-9511-C1BF8A7B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55DBCB-8B86-422A-ADE6-DCB1082A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56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54206-843A-4D8E-97AC-7E7FF3C8F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680B90-CCB8-46D9-B91C-D1A7C8A7A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50F9C6-3217-4CB3-88E5-82FEEB87A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42C559-27F8-4E0F-BBDF-F5EC82FB1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012665-CC25-4575-BE94-115923FB6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3C92B7B-E47E-41D3-8EAF-4A206FFB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0C7562-82C6-4469-821F-1AB604661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B5A27E-241D-4039-A341-9B74B354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55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FA707-B6CA-4577-851A-3709AF57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B52DD7-5191-49E3-8C4B-C1E755429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4CFA00-AD4D-4027-99A0-E2581C6A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05C71C-D996-45EE-84A5-B618029E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88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C282A00-63EC-4361-A395-F501F3B9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F4C8836-124D-4A35-9CAC-719922EF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65B9B7-0DCA-4245-A03C-85798644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60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C9F40-645D-4E25-A21E-229AD3D9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68F32E-1358-4F42-A436-67070AC16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C5373A-2E73-4A59-AF1E-5763FE401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835CE0-7E61-4F22-941B-22AC0091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3A63AA-38D6-4B7C-8C99-CF865D6C0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93091E-3846-4E38-9B12-79321ECA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71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D8EC9-04CD-4419-96B6-200182A61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06B7EB-1189-4AFF-A24E-AD25C7E79E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5EE895-31E2-4413-9004-517CDA04E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253BAC-D09D-4F3D-9758-303643A9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EE9D3D-B48F-4CB7-A654-C8CE83FF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B71EE2-5868-449E-BCA2-96946E17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97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BD825-7D2F-4109-89E6-10AA11CB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6ACD08-4131-45EE-A4C3-F276FED9D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6ED43C-74BC-4356-988A-8CEABB92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3B8D41-30DA-4D01-8AAE-B48B88655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D4D346-1666-46F3-9199-CD11C2A9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058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12D151C-28EB-4EAD-992E-F11A9ECEC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E636D6-AF38-49FD-8C57-A627034C6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33A832-B185-45C9-903C-52273FC7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290E3F-5130-4E49-80E1-3ED0AEA5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8FFD80-6A8C-4845-8A3D-DCF4F1B0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5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4C24B-3B40-4998-8F21-B0728F676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1E28DD-3373-4CCB-9E16-ABBD030CF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A36785-7C58-4564-B83D-02D2EEAED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F359D-1FF7-4387-BC40-60D1B0979F1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7690C-5486-43E2-8D45-5AE623527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3997B1-B524-410D-B330-6EB1466D4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28587-C1F9-40B0-AE10-EE1E285BE5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35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E7A9B42-65E0-4BEF-BF14-C1A39B4BB2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0F2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88DCA13-0753-4512-83F2-7DC2EF875D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6000"/>
            </a:srgbClr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1A3A257-2671-4152-8306-7593B687045A}"/>
              </a:ext>
            </a:extLst>
          </p:cNvPr>
          <p:cNvSpPr/>
          <p:nvPr/>
        </p:nvSpPr>
        <p:spPr>
          <a:xfrm>
            <a:off x="355600" y="381000"/>
            <a:ext cx="11480800" cy="6070600"/>
          </a:xfrm>
          <a:prstGeom prst="roundRect">
            <a:avLst/>
          </a:prstGeom>
          <a:solidFill>
            <a:srgbClr val="E8E9EC"/>
          </a:solidFill>
          <a:ln w="13970">
            <a:solidFill>
              <a:srgbClr val="DADC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DA63E9-8BF1-4FEB-8C67-4F1D18AF42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812998"/>
            <a:ext cx="736600" cy="710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3507EF-2740-4B60-A4FE-B96AA85EDC82}"/>
              </a:ext>
            </a:extLst>
          </p:cNvPr>
          <p:cNvSpPr txBox="1"/>
          <p:nvPr/>
        </p:nvSpPr>
        <p:spPr>
          <a:xfrm>
            <a:off x="1676400" y="800100"/>
            <a:ext cx="1841500" cy="92333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2000" b="1">
                <a:solidFill>
                  <a:srgbClr val="202226"/>
                </a:solidFill>
                <a:latin typeface="Segoe UI Semibold" panose="020B0702040204020203" pitchFamily="34" charset="0"/>
              </a:rPr>
              <a:t>Московский
авиационный
институт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D15EACA-ED77-4B77-BE99-94FEF883C65C}"/>
              </a:ext>
            </a:extLst>
          </p:cNvPr>
          <p:cNvCxnSpPr/>
          <p:nvPr/>
        </p:nvCxnSpPr>
        <p:spPr>
          <a:xfrm>
            <a:off x="3708400" y="825500"/>
            <a:ext cx="0" cy="762000"/>
          </a:xfrm>
          <a:prstGeom prst="line">
            <a:avLst/>
          </a:prstGeom>
          <a:ln w="16510">
            <a:solidFill>
              <a:srgbClr val="3739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01C7CE-FD6A-454A-8F10-841B00156745}"/>
              </a:ext>
            </a:extLst>
          </p:cNvPr>
          <p:cNvSpPr txBox="1"/>
          <p:nvPr/>
        </p:nvSpPr>
        <p:spPr>
          <a:xfrm>
            <a:off x="3937000" y="812800"/>
            <a:ext cx="2413000" cy="87716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202226"/>
                </a:solidFill>
                <a:latin typeface="Segoe UI" panose="020B0502040204020203" pitchFamily="34" charset="0"/>
              </a:rPr>
              <a:t>национальный
исследовательский
университет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F97ED-D827-4D0A-B58D-139C490F45F2}"/>
              </a:ext>
            </a:extLst>
          </p:cNvPr>
          <p:cNvSpPr txBox="1"/>
          <p:nvPr/>
        </p:nvSpPr>
        <p:spPr>
          <a:xfrm>
            <a:off x="787400" y="1879600"/>
            <a:ext cx="5842000" cy="67710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2200" b="1">
                <a:solidFill>
                  <a:srgbClr val="191A1C"/>
                </a:solidFill>
                <a:latin typeface="Segoe UI Semibold" panose="020B0702040204020203" pitchFamily="34" charset="0"/>
              </a:rPr>
              <a:t>ВЫПУСКНАЯ КВАЛИФИКАЦИОННАЯ
РАБОТА БАКАЛАВРА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CC52E5-BB54-442C-9933-60CC5E237708}"/>
              </a:ext>
            </a:extLst>
          </p:cNvPr>
          <p:cNvSpPr txBox="1"/>
          <p:nvPr/>
        </p:nvSpPr>
        <p:spPr>
          <a:xfrm>
            <a:off x="787400" y="3048000"/>
            <a:ext cx="9715500" cy="138499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3000" b="1">
                <a:solidFill>
                  <a:srgbClr val="303135"/>
                </a:solidFill>
                <a:latin typeface="Segoe UI Semibold" panose="020B0702040204020203" pitchFamily="34" charset="0"/>
              </a:rPr>
              <a:t>Автоматизированная платформа управления инфраструктурой с поддержкой подхода Architecture-as-Code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F46140-B130-4762-990A-45023F0BD16E}"/>
              </a:ext>
            </a:extLst>
          </p:cNvPr>
          <p:cNvSpPr txBox="1"/>
          <p:nvPr/>
        </p:nvSpPr>
        <p:spPr>
          <a:xfrm>
            <a:off x="787400" y="4648200"/>
            <a:ext cx="71755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 b="1">
                <a:solidFill>
                  <a:srgbClr val="303135"/>
                </a:solidFill>
                <a:latin typeface="Segoe UI Semibold" panose="020B0702040204020203" pitchFamily="34" charset="0"/>
              </a:rPr>
              <a:t>Направление: 01.03.02 «Прикладная математика и информатика»
Профиль: Информатика • Группа М8О-409Б-22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A9C193-C805-4247-96F3-0381BC76187B}"/>
              </a:ext>
            </a:extLst>
          </p:cNvPr>
          <p:cNvSpPr txBox="1"/>
          <p:nvPr/>
        </p:nvSpPr>
        <p:spPr>
          <a:xfrm>
            <a:off x="7493000" y="5143500"/>
            <a:ext cx="3937000" cy="98488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600">
                <a:solidFill>
                  <a:srgbClr val="303135"/>
                </a:solidFill>
                <a:latin typeface="Segoe UI" panose="020B0502040204020203" pitchFamily="34" charset="0"/>
              </a:rPr>
              <a:t>Студент: Концебалов Олег Сергеевич
Руководитель: Дзюба Дмитрий Владимирович
Консультант: Булакина Мария Борисовна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0510BD-8A03-41B0-A4B5-6A65B7A6F0A8}"/>
              </a:ext>
            </a:extLst>
          </p:cNvPr>
          <p:cNvSpPr txBox="1"/>
          <p:nvPr/>
        </p:nvSpPr>
        <p:spPr>
          <a:xfrm>
            <a:off x="787400" y="5778500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Москва • 2026</a:t>
            </a:r>
          </a:p>
        </p:txBody>
      </p:sp>
    </p:spTree>
    <p:extLst>
      <p:ext uri="{BB962C8B-B14F-4D97-AF65-F5344CB8AC3E}">
        <p14:creationId xmlns:p14="http://schemas.microsoft.com/office/powerpoint/2010/main" val="270319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166F30-A1E9-4D44-8C2A-BB0E603716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0F2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DC92-B5D3-4A96-A99B-BA3082530D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6000"/>
            </a:srgbClr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5A160F7-A42A-48C1-BCA6-90825B18DCCF}"/>
              </a:ext>
            </a:extLst>
          </p:cNvPr>
          <p:cNvSpPr/>
          <p:nvPr/>
        </p:nvSpPr>
        <p:spPr>
          <a:xfrm>
            <a:off x="381000" y="406400"/>
            <a:ext cx="11430000" cy="2743200"/>
          </a:xfrm>
          <a:prstGeom prst="roundRect">
            <a:avLst/>
          </a:prstGeom>
          <a:solidFill>
            <a:srgbClr val="2F303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121CA-D843-460D-9F54-E03887EB8145}"/>
              </a:ext>
            </a:extLst>
          </p:cNvPr>
          <p:cNvSpPr txBox="1"/>
          <p:nvPr/>
        </p:nvSpPr>
        <p:spPr>
          <a:xfrm>
            <a:off x="762000" y="800100"/>
            <a:ext cx="3175000" cy="20005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300" b="1">
                <a:solidFill>
                  <a:srgbClr val="F4F5F7"/>
                </a:solidFill>
                <a:latin typeface="Segoe UI Semibold" panose="020B0702040204020203" pitchFamily="34" charset="0"/>
              </a:rPr>
              <a:t>ПОСТАНОВКА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3932C-5F7E-44F1-B582-51466128B4FA}"/>
              </a:ext>
            </a:extLst>
          </p:cNvPr>
          <p:cNvSpPr txBox="1"/>
          <p:nvPr/>
        </p:nvSpPr>
        <p:spPr>
          <a:xfrm>
            <a:off x="762000" y="1168400"/>
            <a:ext cx="6604000" cy="47705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3100" b="1">
                <a:solidFill>
                  <a:srgbClr val="FFFFFF"/>
                </a:solidFill>
                <a:latin typeface="Segoe UI Semibold" panose="020B0702040204020203" pitchFamily="34" charset="0"/>
              </a:rPr>
              <a:t>Актуальность, цель и задача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5033C-0F7C-451C-84DF-D03B38C36E78}"/>
              </a:ext>
            </a:extLst>
          </p:cNvPr>
          <p:cNvSpPr txBox="1"/>
          <p:nvPr/>
        </p:nvSpPr>
        <p:spPr>
          <a:xfrm>
            <a:off x="762000" y="2057400"/>
            <a:ext cx="7747000" cy="69249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>
                <a:solidFill>
                  <a:srgbClr val="EBEDF1"/>
                </a:solidFill>
                <a:latin typeface="Segoe UI" panose="020B0502040204020203" pitchFamily="34" charset="0"/>
              </a:rPr>
              <a:t>Инфраструктура меняется быстрее документации: ручные правки, сбои и неполные rollout-процедуры приводят к drift между архитектурным описанием и фактической средой.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DE3E6746-E853-4DEA-B36B-0C4E2BCFECCD}"/>
              </a:ext>
            </a:extLst>
          </p:cNvPr>
          <p:cNvSpPr/>
          <p:nvPr/>
        </p:nvSpPr>
        <p:spPr>
          <a:xfrm>
            <a:off x="9144000" y="889000"/>
            <a:ext cx="1841500" cy="1498600"/>
          </a:xfrm>
          <a:prstGeom prst="ellipse">
            <a:avLst/>
          </a:prstGeom>
          <a:solidFill>
            <a:srgbClr val="3E87F6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EB21F-5B7A-4078-B78D-D82125D09749}"/>
              </a:ext>
            </a:extLst>
          </p:cNvPr>
          <p:cNvSpPr txBox="1"/>
          <p:nvPr/>
        </p:nvSpPr>
        <p:spPr>
          <a:xfrm>
            <a:off x="9385300" y="525130"/>
            <a:ext cx="1346200" cy="146193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1900" b="1">
                <a:solidFill>
                  <a:srgbClr val="FFFFFF"/>
                </a:solidFill>
                <a:latin typeface="Segoe UI Semibold" panose="020B0702040204020203" pitchFamily="34" charset="0"/>
              </a:rPr>
              <a:t>desired
state
≠
actual
state</a:t>
            </a:r>
            <a:endParaRPr lang="ru-RU" sz="19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100104C-BD20-4A42-A6A3-264C755C0A89}"/>
              </a:ext>
            </a:extLst>
          </p:cNvPr>
          <p:cNvSpPr/>
          <p:nvPr/>
        </p:nvSpPr>
        <p:spPr>
          <a:xfrm>
            <a:off x="571500" y="3530600"/>
            <a:ext cx="2565400" cy="190500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D90B3-773B-49C4-BF80-CC93BC61FE5A}"/>
              </a:ext>
            </a:extLst>
          </p:cNvPr>
          <p:cNvSpPr txBox="1"/>
          <p:nvPr/>
        </p:nvSpPr>
        <p:spPr>
          <a:xfrm>
            <a:off x="850900" y="3810000"/>
            <a:ext cx="20066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2B2B2E"/>
                </a:solidFill>
                <a:latin typeface="Segoe UI Semibold" panose="020B0702040204020203" pitchFamily="34" charset="0"/>
              </a:rPr>
              <a:t>Архитектура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40E100-A7FB-4502-B2F3-1DB1EDB67E75}"/>
              </a:ext>
            </a:extLst>
          </p:cNvPr>
          <p:cNvSpPr txBox="1"/>
          <p:nvPr/>
        </p:nvSpPr>
        <p:spPr>
          <a:xfrm>
            <a:off x="850900" y="4318000"/>
            <a:ext cx="20066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Structurizr/C4-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модель фиксирует требуемые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host-level workload.</a:t>
            </a:r>
            <a:endParaRPr lang="ru-RU" sz="12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A3CA889-502C-421A-8E16-DA8ECA2A1B9B}"/>
              </a:ext>
            </a:extLst>
          </p:cNvPr>
          <p:cNvSpPr/>
          <p:nvPr/>
        </p:nvSpPr>
        <p:spPr>
          <a:xfrm>
            <a:off x="2451100" y="47498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DFC43A-44F6-46D9-A5E2-450D858882AC}"/>
              </a:ext>
            </a:extLst>
          </p:cNvPr>
          <p:cNvSpPr txBox="1"/>
          <p:nvPr/>
        </p:nvSpPr>
        <p:spPr>
          <a:xfrm>
            <a:off x="2451100" y="4869477"/>
            <a:ext cx="508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01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23843B4-4DE8-4ECA-84E4-3C1D7C95BAA1}"/>
              </a:ext>
            </a:extLst>
          </p:cNvPr>
          <p:cNvSpPr/>
          <p:nvPr/>
        </p:nvSpPr>
        <p:spPr>
          <a:xfrm>
            <a:off x="3403600" y="3530600"/>
            <a:ext cx="2565400" cy="190500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8AD1D9-014A-4B98-B763-9D2445D37E00}"/>
              </a:ext>
            </a:extLst>
          </p:cNvPr>
          <p:cNvSpPr txBox="1"/>
          <p:nvPr/>
        </p:nvSpPr>
        <p:spPr>
          <a:xfrm>
            <a:off x="3683000" y="3810000"/>
            <a:ext cx="2006600" cy="58477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2B2B2E"/>
                </a:solidFill>
                <a:latin typeface="Segoe UI Semibold" panose="020B0702040204020203" pitchFamily="34" charset="0"/>
              </a:rPr>
              <a:t>Фактическое состояние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B67A5D-C1D6-4EAF-9D28-CB29CC88F835}"/>
              </a:ext>
            </a:extLst>
          </p:cNvPr>
          <p:cNvSpPr txBox="1"/>
          <p:nvPr/>
        </p:nvSpPr>
        <p:spPr>
          <a:xfrm>
            <a:off x="3683000" y="4318000"/>
            <a:ext cx="20066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Inventory-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сервис получает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runtime-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данные из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cAdvisor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и отмечает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partial result.</a:t>
            </a:r>
            <a:endParaRPr lang="ru-RU" sz="12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7BD51E25-9AF9-46CF-84A6-B48F068F50BA}"/>
              </a:ext>
            </a:extLst>
          </p:cNvPr>
          <p:cNvSpPr/>
          <p:nvPr/>
        </p:nvSpPr>
        <p:spPr>
          <a:xfrm>
            <a:off x="5283200" y="47498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41F6E-FB07-43D2-99C6-5E8D7698B9F8}"/>
              </a:ext>
            </a:extLst>
          </p:cNvPr>
          <p:cNvSpPr txBox="1"/>
          <p:nvPr/>
        </p:nvSpPr>
        <p:spPr>
          <a:xfrm>
            <a:off x="5283200" y="4869477"/>
            <a:ext cx="508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02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5195F38-49BA-4DA1-B9E8-0294AFFDA6DE}"/>
              </a:ext>
            </a:extLst>
          </p:cNvPr>
          <p:cNvSpPr/>
          <p:nvPr/>
        </p:nvSpPr>
        <p:spPr>
          <a:xfrm>
            <a:off x="6235700" y="3530600"/>
            <a:ext cx="2565400" cy="190500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C4D133-04AD-4863-9708-D601174CE81F}"/>
              </a:ext>
            </a:extLst>
          </p:cNvPr>
          <p:cNvSpPr txBox="1"/>
          <p:nvPr/>
        </p:nvSpPr>
        <p:spPr>
          <a:xfrm>
            <a:off x="6515100" y="3810000"/>
            <a:ext cx="20066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>
                <a:solidFill>
                  <a:srgbClr val="2B2B2E"/>
                </a:solidFill>
                <a:latin typeface="Segoe UI Semibold" panose="020B0702040204020203" pitchFamily="34" charset="0"/>
              </a:rPr>
              <a:t>Drift</a:t>
            </a:r>
            <a:endParaRPr lang="ru-RU" sz="1900">
              <a:solidFill>
                <a:srgbClr val="2B2B2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85A754-6450-4E20-B2A2-AA2409A95616}"/>
              </a:ext>
            </a:extLst>
          </p:cNvPr>
          <p:cNvSpPr txBox="1"/>
          <p:nvPr/>
        </p:nvSpPr>
        <p:spPr>
          <a:xfrm>
            <a:off x="6515100" y="4318000"/>
            <a:ext cx="20066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Подтвержденное расхождение при полной actual data.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5A13F874-0818-4EFB-BB2D-63B2CF65482F}"/>
              </a:ext>
            </a:extLst>
          </p:cNvPr>
          <p:cNvSpPr/>
          <p:nvPr/>
        </p:nvSpPr>
        <p:spPr>
          <a:xfrm>
            <a:off x="8115300" y="47498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D77C84-6D53-4776-90F0-E30916F7B570}"/>
              </a:ext>
            </a:extLst>
          </p:cNvPr>
          <p:cNvSpPr txBox="1"/>
          <p:nvPr/>
        </p:nvSpPr>
        <p:spPr>
          <a:xfrm>
            <a:off x="8115300" y="4869477"/>
            <a:ext cx="508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03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A0E5A0F-20FE-4942-90E2-0BAFE1372C22}"/>
              </a:ext>
            </a:extLst>
          </p:cNvPr>
          <p:cNvSpPr/>
          <p:nvPr/>
        </p:nvSpPr>
        <p:spPr>
          <a:xfrm>
            <a:off x="9067800" y="3530600"/>
            <a:ext cx="2565400" cy="1905000"/>
          </a:xfrm>
          <a:prstGeom prst="roundRect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0960A-0F0F-4503-AC64-16AB1BC905BF}"/>
              </a:ext>
            </a:extLst>
          </p:cNvPr>
          <p:cNvSpPr txBox="1"/>
          <p:nvPr/>
        </p:nvSpPr>
        <p:spPr>
          <a:xfrm>
            <a:off x="9347200" y="3810000"/>
            <a:ext cx="20066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FFFFFF"/>
                </a:solidFill>
                <a:latin typeface="Segoe UI Semibold" panose="020B0702040204020203" pitchFamily="34" charset="0"/>
              </a:rPr>
              <a:t>Цель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9AEA62-96D3-42F1-A516-7A6DA03D0B71}"/>
              </a:ext>
            </a:extLst>
          </p:cNvPr>
          <p:cNvSpPr txBox="1"/>
          <p:nvPr/>
        </p:nvSpPr>
        <p:spPr>
          <a:xfrm>
            <a:off x="9347200" y="4318000"/>
            <a:ext cx="2006600" cy="92333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Разработать платформу, которая строит desired state, получает actual state, обнаруживает drift и запускает reconcile.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BE58E541-7885-40D3-AC8F-2DA0F5DFB963}"/>
              </a:ext>
            </a:extLst>
          </p:cNvPr>
          <p:cNvSpPr/>
          <p:nvPr/>
        </p:nvSpPr>
        <p:spPr>
          <a:xfrm>
            <a:off x="10947400" y="4749800"/>
            <a:ext cx="508000" cy="508000"/>
          </a:xfrm>
          <a:prstGeom prst="ellipse">
            <a:avLst/>
          </a:prstGeom>
          <a:solidFill>
            <a:srgbClr val="2F303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2C42D7-F3C6-4C41-AF85-73ABC844B62E}"/>
              </a:ext>
            </a:extLst>
          </p:cNvPr>
          <p:cNvSpPr txBox="1"/>
          <p:nvPr/>
        </p:nvSpPr>
        <p:spPr>
          <a:xfrm>
            <a:off x="10947400" y="4869477"/>
            <a:ext cx="508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04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D363C1-20C5-4F46-BC68-7BA529EA783F}"/>
              </a:ext>
            </a:extLst>
          </p:cNvPr>
          <p:cNvSpPr txBox="1"/>
          <p:nvPr/>
        </p:nvSpPr>
        <p:spPr>
          <a:xfrm>
            <a:off x="609600" y="5867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 b="1">
                <a:solidFill>
                  <a:srgbClr val="2D2D30"/>
                </a:solidFill>
                <a:latin typeface="Segoe UI Semibold" panose="020B0702040204020203" pitchFamily="34" charset="0"/>
              </a:rPr>
              <a:t>Вывод: работа переводит архитектурное описание из статичной документации в источник данных для control loop.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9CF069-5B57-49C1-A592-0EDCC633EA39}"/>
              </a:ext>
            </a:extLst>
          </p:cNvPr>
          <p:cNvSpPr txBox="1"/>
          <p:nvPr/>
        </p:nvSpPr>
        <p:spPr>
          <a:xfrm>
            <a:off x="11747500" y="6502400"/>
            <a:ext cx="254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900">
                <a:solidFill>
                  <a:srgbClr val="52565C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933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C32BF8-DFE5-470E-89E9-EF3F8CEBB1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0F2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BE2EEDB-B659-4A99-8BCC-A46F2A5DE1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6000"/>
            </a:srgbClr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4BC42-5208-450E-AF1B-3C9902DCA229}"/>
              </a:ext>
            </a:extLst>
          </p:cNvPr>
          <p:cNvSpPr txBox="1"/>
          <p:nvPr/>
        </p:nvSpPr>
        <p:spPr>
          <a:xfrm>
            <a:off x="584200" y="444500"/>
            <a:ext cx="431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 b="1">
                <a:solidFill>
                  <a:srgbClr val="42454B"/>
                </a:solidFill>
                <a:latin typeface="Segoe UI Semibold" panose="020B0702040204020203" pitchFamily="34" charset="0"/>
              </a:rPr>
              <a:t>СРАВНЕНИЕ С АНАЛОГАМИ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DE9FB-4501-4B8F-B54F-AB421A93B1CA}"/>
              </a:ext>
            </a:extLst>
          </p:cNvPr>
          <p:cNvSpPr txBox="1"/>
          <p:nvPr/>
        </p:nvSpPr>
        <p:spPr>
          <a:xfrm>
            <a:off x="584200" y="787400"/>
            <a:ext cx="7112000" cy="95410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3100" b="1">
                <a:solidFill>
                  <a:srgbClr val="2D2D30"/>
                </a:solidFill>
                <a:latin typeface="Segoe UI Semibold" panose="020B0702040204020203" pitchFamily="34" charset="0"/>
              </a:rPr>
              <a:t>Существующие решения закрывают части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0094F-42E9-49C5-BB37-4884BCC03CF7}"/>
              </a:ext>
            </a:extLst>
          </p:cNvPr>
          <p:cNvSpPr txBox="1"/>
          <p:nvPr/>
        </p:nvSpPr>
        <p:spPr>
          <a:xfrm>
            <a:off x="8001000" y="698500"/>
            <a:ext cx="3429000" cy="69249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>
                <a:solidFill>
                  <a:srgbClr val="55585F"/>
                </a:solidFill>
                <a:latin typeface="Segoe UI" panose="020B0502040204020203" pitchFamily="34" charset="0"/>
              </a:rPr>
              <a:t>Для ВКР важен легковесный контур: </a:t>
            </a:r>
            <a:r>
              <a:rPr lang="en-US" sz="1500">
                <a:solidFill>
                  <a:srgbClr val="55585F"/>
                </a:solidFill>
                <a:latin typeface="Segoe UI" panose="020B0502040204020203" pitchFamily="34" charset="0"/>
              </a:rPr>
              <a:t>Architecture-as-Code → inventory → drift detection → reconcile.</a:t>
            </a:r>
            <a:endParaRPr lang="ru-RU" sz="1500">
              <a:solidFill>
                <a:srgbClr val="55585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ABC7E-8467-46D3-8E44-1DE826E10EE0}"/>
              </a:ext>
            </a:extLst>
          </p:cNvPr>
          <p:cNvSpPr txBox="1"/>
          <p:nvPr/>
        </p:nvSpPr>
        <p:spPr>
          <a:xfrm>
            <a:off x="11747500" y="6502400"/>
            <a:ext cx="254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900">
                <a:solidFill>
                  <a:srgbClr val="52565C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8BB45D6-7420-418E-8F39-286616DA29C7}"/>
              </a:ext>
            </a:extLst>
          </p:cNvPr>
          <p:cNvSpPr/>
          <p:nvPr/>
        </p:nvSpPr>
        <p:spPr>
          <a:xfrm>
            <a:off x="711200" y="2159000"/>
            <a:ext cx="2501900" cy="31115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B3C88-A610-433B-92F6-52016E4110DA}"/>
              </a:ext>
            </a:extLst>
          </p:cNvPr>
          <p:cNvSpPr txBox="1"/>
          <p:nvPr/>
        </p:nvSpPr>
        <p:spPr>
          <a:xfrm>
            <a:off x="990600" y="2438400"/>
            <a:ext cx="19431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>
                <a:solidFill>
                  <a:srgbClr val="2B2B2E"/>
                </a:solidFill>
                <a:latin typeface="Segoe UI Semibold" panose="020B0702040204020203" pitchFamily="34" charset="0"/>
              </a:rPr>
              <a:t>Ansible</a:t>
            </a:r>
            <a:endParaRPr lang="ru-RU" sz="1900">
              <a:solidFill>
                <a:srgbClr val="2B2B2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2BA75-6F9E-490C-A13F-3B634A461DF7}"/>
              </a:ext>
            </a:extLst>
          </p:cNvPr>
          <p:cNvSpPr txBox="1"/>
          <p:nvPr/>
        </p:nvSpPr>
        <p:spPr>
          <a:xfrm>
            <a:off x="990600" y="2946400"/>
            <a:ext cx="1943100" cy="147732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Сильная сторона:
agentless, зрелая экосистема
Ограничение:
job-based запуск без встроенной непрерывной реконсиляции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F03D1BB1-278A-4FA1-B07B-70866E732BDD}"/>
              </a:ext>
            </a:extLst>
          </p:cNvPr>
          <p:cNvSpPr/>
          <p:nvPr/>
        </p:nvSpPr>
        <p:spPr>
          <a:xfrm>
            <a:off x="3505200" y="2159000"/>
            <a:ext cx="2501900" cy="31115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968E9-ED70-44E9-8774-E02F0C298019}"/>
              </a:ext>
            </a:extLst>
          </p:cNvPr>
          <p:cNvSpPr txBox="1"/>
          <p:nvPr/>
        </p:nvSpPr>
        <p:spPr>
          <a:xfrm>
            <a:off x="3784600" y="2438400"/>
            <a:ext cx="1943100" cy="58477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>
                <a:solidFill>
                  <a:srgbClr val="2B2B2E"/>
                </a:solidFill>
                <a:latin typeface="Segoe UI Semibold" panose="020B0702040204020203" pitchFamily="34" charset="0"/>
              </a:rPr>
              <a:t>Terraform / Pulumi</a:t>
            </a:r>
            <a:endParaRPr lang="ru-RU" sz="1900">
              <a:solidFill>
                <a:srgbClr val="2B2B2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D72339-6AD1-4A8E-AC75-064F3AAD0F5C}"/>
              </a:ext>
            </a:extLst>
          </p:cNvPr>
          <p:cNvSpPr txBox="1"/>
          <p:nvPr/>
        </p:nvSpPr>
        <p:spPr>
          <a:xfrm>
            <a:off x="3784600" y="2946400"/>
            <a:ext cx="1943100" cy="147732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Сильная сторона:
декларативное описание ресурсов
Ограничение:
фокус на provisioning и state-файл, не на host-level workload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77F6251-1F37-4505-80A7-D56A6EDC8CF4}"/>
              </a:ext>
            </a:extLst>
          </p:cNvPr>
          <p:cNvSpPr/>
          <p:nvPr/>
        </p:nvSpPr>
        <p:spPr>
          <a:xfrm>
            <a:off x="6299200" y="2159000"/>
            <a:ext cx="2501900" cy="31115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421B17-B967-4D6B-A4A5-16340097E2DE}"/>
              </a:ext>
            </a:extLst>
          </p:cNvPr>
          <p:cNvSpPr txBox="1"/>
          <p:nvPr/>
        </p:nvSpPr>
        <p:spPr>
          <a:xfrm>
            <a:off x="6578600" y="2438400"/>
            <a:ext cx="19431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>
                <a:solidFill>
                  <a:srgbClr val="2B2B2E"/>
                </a:solidFill>
                <a:latin typeface="Segoe UI Semibold" panose="020B0702040204020203" pitchFamily="34" charset="0"/>
              </a:rPr>
              <a:t>K8s / GitOps</a:t>
            </a:r>
            <a:endParaRPr lang="ru-RU" sz="1900">
              <a:solidFill>
                <a:srgbClr val="2B2B2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C4DF03-2A5D-4F30-9196-FD144E16DBCF}"/>
              </a:ext>
            </a:extLst>
          </p:cNvPr>
          <p:cNvSpPr txBox="1"/>
          <p:nvPr/>
        </p:nvSpPr>
        <p:spPr>
          <a:xfrm>
            <a:off x="6578600" y="2946400"/>
            <a:ext cx="1943100" cy="147732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Сильная сторона:
сильная control-loop модель
Ограничение:
естественная область — Kubernetes API и кластерные ресурсы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2737735C-43EA-4595-B2AC-4FB6D0C15F50}"/>
              </a:ext>
            </a:extLst>
          </p:cNvPr>
          <p:cNvSpPr/>
          <p:nvPr/>
        </p:nvSpPr>
        <p:spPr>
          <a:xfrm>
            <a:off x="9093200" y="2159000"/>
            <a:ext cx="2501900" cy="3111500"/>
          </a:xfrm>
          <a:prstGeom prst="roundRect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747AD1-2A47-4255-9BE4-45D8582A0018}"/>
              </a:ext>
            </a:extLst>
          </p:cNvPr>
          <p:cNvSpPr txBox="1"/>
          <p:nvPr/>
        </p:nvSpPr>
        <p:spPr>
          <a:xfrm>
            <a:off x="9372600" y="2438400"/>
            <a:ext cx="19431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FFFFFF"/>
                </a:solidFill>
                <a:latin typeface="Segoe UI Semibold" panose="020B0702040204020203" pitchFamily="34" charset="0"/>
              </a:rPr>
              <a:t>Проект ВКР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8E71B-F07C-4CA8-85DF-536B7BF8D174}"/>
              </a:ext>
            </a:extLst>
          </p:cNvPr>
          <p:cNvSpPr txBox="1"/>
          <p:nvPr/>
        </p:nvSpPr>
        <p:spPr>
          <a:xfrm>
            <a:off x="9372600" y="2946400"/>
            <a:ext cx="1943100" cy="147732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Сильная сторона:
</a:t>
            </a:r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Architecture-as-Code </a:t>
            </a:r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как </a:t>
            </a:r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source of truth
</a:t>
            </a:r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Ограничение:
легковесный </a:t>
            </a:r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MVP </a:t>
            </a:r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для </a:t>
            </a:r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Docker-based workload </a:t>
            </a:r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вне </a:t>
            </a:r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Kubernetes</a:t>
            </a:r>
            <a:endParaRPr lang="ru-RU" sz="1200">
              <a:solidFill>
                <a:srgbClr val="ECEFF3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BA369E-12D3-449B-B4BA-E85C460D6A00}"/>
              </a:ext>
            </a:extLst>
          </p:cNvPr>
          <p:cNvSpPr txBox="1"/>
          <p:nvPr/>
        </p:nvSpPr>
        <p:spPr>
          <a:xfrm>
            <a:off x="736600" y="5715000"/>
            <a:ext cx="104140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 b="1">
                <a:solidFill>
                  <a:srgbClr val="2D2D30"/>
                </a:solidFill>
                <a:latin typeface="Segoe UI Semibold" panose="020B0702040204020203" pitchFamily="34" charset="0"/>
              </a:rPr>
              <a:t>Вывод: собственная платформа нужна не вместо этих инструментов, а как связующий control plane для выбранного сценария.</a:t>
            </a:r>
          </a:p>
        </p:txBody>
      </p:sp>
    </p:spTree>
    <p:extLst>
      <p:ext uri="{BB962C8B-B14F-4D97-AF65-F5344CB8AC3E}">
        <p14:creationId xmlns:p14="http://schemas.microsoft.com/office/powerpoint/2010/main" val="4168599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38FC55B-A81D-4032-BED6-1B60A98978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0F2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1C03BFB-C784-4164-B738-AF0ABB892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6000"/>
            </a:srgbClr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10BD8-1649-4FA6-A662-97B7AA82080D}"/>
              </a:ext>
            </a:extLst>
          </p:cNvPr>
          <p:cNvSpPr txBox="1"/>
          <p:nvPr/>
        </p:nvSpPr>
        <p:spPr>
          <a:xfrm>
            <a:off x="584200" y="444500"/>
            <a:ext cx="431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 b="1">
                <a:solidFill>
                  <a:srgbClr val="42454B"/>
                </a:solidFill>
                <a:latin typeface="Segoe UI Semibold" panose="020B0702040204020203" pitchFamily="34" charset="0"/>
              </a:rPr>
              <a:t>ТРЕБОВАНИЯ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67D91-F7D5-4263-9890-00E58D04C24B}"/>
              </a:ext>
            </a:extLst>
          </p:cNvPr>
          <p:cNvSpPr txBox="1"/>
          <p:nvPr/>
        </p:nvSpPr>
        <p:spPr>
          <a:xfrm>
            <a:off x="584200" y="787400"/>
            <a:ext cx="7112000" cy="47705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3100" b="1">
                <a:solidFill>
                  <a:srgbClr val="2D2D30"/>
                </a:solidFill>
                <a:latin typeface="Segoe UI Semibold" panose="020B0702040204020203" pitchFamily="34" charset="0"/>
              </a:rPr>
              <a:t>Ключевые требования к системе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7F6A6-BE8E-466A-B790-EE24C9332EFD}"/>
              </a:ext>
            </a:extLst>
          </p:cNvPr>
          <p:cNvSpPr txBox="1"/>
          <p:nvPr/>
        </p:nvSpPr>
        <p:spPr>
          <a:xfrm>
            <a:off x="8001000" y="698500"/>
            <a:ext cx="3429000" cy="69249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>
                <a:solidFill>
                  <a:srgbClr val="55585F"/>
                </a:solidFill>
                <a:latin typeface="Segoe UI" panose="020B0502040204020203" pitchFamily="34" charset="0"/>
              </a:rPr>
              <a:t>Требования сформулированы вокруг безопасного цикла управления состоянием инфраструктуры.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57A804-8792-4958-A960-44A4EE4B81C6}"/>
              </a:ext>
            </a:extLst>
          </p:cNvPr>
          <p:cNvSpPr txBox="1"/>
          <p:nvPr/>
        </p:nvSpPr>
        <p:spPr>
          <a:xfrm>
            <a:off x="11747500" y="6502400"/>
            <a:ext cx="254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900">
                <a:solidFill>
                  <a:srgbClr val="52565C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73A142F-2FDD-4CC0-BC8B-2D36696BFCCA}"/>
              </a:ext>
            </a:extLst>
          </p:cNvPr>
          <p:cNvSpPr/>
          <p:nvPr/>
        </p:nvSpPr>
        <p:spPr>
          <a:xfrm>
            <a:off x="698500" y="2032000"/>
            <a:ext cx="3276600" cy="31750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3FE45-80FB-402F-BE85-04DCD787699E}"/>
              </a:ext>
            </a:extLst>
          </p:cNvPr>
          <p:cNvSpPr txBox="1"/>
          <p:nvPr/>
        </p:nvSpPr>
        <p:spPr>
          <a:xfrm>
            <a:off x="977900" y="2311400"/>
            <a:ext cx="27178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2B2B2E"/>
                </a:solidFill>
                <a:latin typeface="Segoe UI Semibold" panose="020B0702040204020203" pitchFamily="34" charset="0"/>
              </a:rPr>
              <a:t>Функциональные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ACA00-8136-4610-9F23-2D7092475B3C}"/>
              </a:ext>
            </a:extLst>
          </p:cNvPr>
          <p:cNvSpPr txBox="1"/>
          <p:nvPr/>
        </p:nvSpPr>
        <p:spPr>
          <a:xfrm>
            <a:off x="977900" y="2819400"/>
            <a:ext cx="2717800" cy="129266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• загрузка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Structurizr JSON
•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построение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host-centric desired state
•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сбор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actual state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через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cAdvisor
•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обнаружение отсутствующих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workload
•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запуск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reconcile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для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node_exporter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и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cadvisor</a:t>
            </a:r>
            <a:endParaRPr lang="ru-RU" sz="12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5ACF82A9-5965-4948-A102-B6AFD4B62F30}"/>
              </a:ext>
            </a:extLst>
          </p:cNvPr>
          <p:cNvSpPr/>
          <p:nvPr/>
        </p:nvSpPr>
        <p:spPr>
          <a:xfrm>
            <a:off x="3289300" y="45212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6FB33-4E14-43ED-947E-A696E4748255}"/>
              </a:ext>
            </a:extLst>
          </p:cNvPr>
          <p:cNvSpPr txBox="1"/>
          <p:nvPr/>
        </p:nvSpPr>
        <p:spPr>
          <a:xfrm>
            <a:off x="3289300" y="4640877"/>
            <a:ext cx="508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F</a:t>
            </a:r>
            <a:endParaRPr lang="ru-RU" sz="14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AFEC286-12F8-4D5C-B0A6-CE506C0415EE}"/>
              </a:ext>
            </a:extLst>
          </p:cNvPr>
          <p:cNvSpPr/>
          <p:nvPr/>
        </p:nvSpPr>
        <p:spPr>
          <a:xfrm>
            <a:off x="4457700" y="2032000"/>
            <a:ext cx="3276600" cy="31750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417721-1F4A-4033-857C-B9EE9F8E0ACF}"/>
              </a:ext>
            </a:extLst>
          </p:cNvPr>
          <p:cNvSpPr txBox="1"/>
          <p:nvPr/>
        </p:nvSpPr>
        <p:spPr>
          <a:xfrm>
            <a:off x="4737100" y="2311400"/>
            <a:ext cx="27178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2B2B2E"/>
                </a:solidFill>
                <a:latin typeface="Segoe UI Semibold" panose="020B0702040204020203" pitchFamily="34" charset="0"/>
              </a:rPr>
              <a:t>Архитектурные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56AD2E-35B6-4F93-99C1-BC73FBE6A803}"/>
              </a:ext>
            </a:extLst>
          </p:cNvPr>
          <p:cNvSpPr txBox="1"/>
          <p:nvPr/>
        </p:nvSpPr>
        <p:spPr>
          <a:xfrm>
            <a:off x="4737100" y="2819400"/>
            <a:ext cx="2717800" cy="110799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• четыре независимых сервиса
• явные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HTTP API-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контракты
•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read-only snapshot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для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state-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сервисов
•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registry detector-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ов и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operator-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ов
• контейнеризация и внешний конфиг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BCB0CF54-711B-4881-83A8-CC2C469436F2}"/>
              </a:ext>
            </a:extLst>
          </p:cNvPr>
          <p:cNvSpPr/>
          <p:nvPr/>
        </p:nvSpPr>
        <p:spPr>
          <a:xfrm>
            <a:off x="7048500" y="45212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9FE56B-BFAF-4F31-B3AD-FFCDD9F962A6}"/>
              </a:ext>
            </a:extLst>
          </p:cNvPr>
          <p:cNvSpPr txBox="1"/>
          <p:nvPr/>
        </p:nvSpPr>
        <p:spPr>
          <a:xfrm>
            <a:off x="7048500" y="4640877"/>
            <a:ext cx="508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A</a:t>
            </a:r>
            <a:endParaRPr lang="ru-RU" sz="14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A313D74-0958-476E-A375-EEA9361EDE6C}"/>
              </a:ext>
            </a:extLst>
          </p:cNvPr>
          <p:cNvSpPr/>
          <p:nvPr/>
        </p:nvSpPr>
        <p:spPr>
          <a:xfrm>
            <a:off x="8216900" y="2032000"/>
            <a:ext cx="3276600" cy="3175000"/>
          </a:xfrm>
          <a:prstGeom prst="roundRect">
            <a:avLst/>
          </a:prstGeom>
          <a:solidFill>
            <a:srgbClr val="2F303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F6B09-5B19-4C42-A6E0-FCD706319CDF}"/>
              </a:ext>
            </a:extLst>
          </p:cNvPr>
          <p:cNvSpPr txBox="1"/>
          <p:nvPr/>
        </p:nvSpPr>
        <p:spPr>
          <a:xfrm>
            <a:off x="8496300" y="2311400"/>
            <a:ext cx="27178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FFFFFF"/>
                </a:solidFill>
                <a:latin typeface="Segoe UI Semibold" panose="020B0702040204020203" pitchFamily="34" charset="0"/>
              </a:rPr>
              <a:t>Эксплуатационные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88E9D8-C37C-4AA1-AAE9-D79D939220E0}"/>
              </a:ext>
            </a:extLst>
          </p:cNvPr>
          <p:cNvSpPr txBox="1"/>
          <p:nvPr/>
        </p:nvSpPr>
        <p:spPr>
          <a:xfrm>
            <a:off x="8496300" y="2819400"/>
            <a:ext cx="2717800" cy="129266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• partial data не считается drift
• cooldown подавляет повторные команды
• асинхронная очередь reconcile
• ограничение параллелизма worker-ов
• SSH-параметры через окружение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016F8B67-09EB-426A-87A4-FC3B411E2A95}"/>
              </a:ext>
            </a:extLst>
          </p:cNvPr>
          <p:cNvSpPr/>
          <p:nvPr/>
        </p:nvSpPr>
        <p:spPr>
          <a:xfrm>
            <a:off x="10807700" y="45212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B3DCE-CD24-4BDA-8052-B6D24D8DCBFE}"/>
              </a:ext>
            </a:extLst>
          </p:cNvPr>
          <p:cNvSpPr txBox="1"/>
          <p:nvPr/>
        </p:nvSpPr>
        <p:spPr>
          <a:xfrm>
            <a:off x="10807700" y="4640877"/>
            <a:ext cx="508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O</a:t>
            </a:r>
            <a:endParaRPr lang="ru-RU" sz="14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0F636E-913F-40A3-9E60-44FDA24C3182}"/>
              </a:ext>
            </a:extLst>
          </p:cNvPr>
          <p:cNvSpPr txBox="1"/>
          <p:nvPr/>
        </p:nvSpPr>
        <p:spPr>
          <a:xfrm>
            <a:off x="736600" y="5689600"/>
            <a:ext cx="104140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 b="1">
                <a:solidFill>
                  <a:srgbClr val="2D2D30"/>
                </a:solidFill>
                <a:latin typeface="Segoe UI Semibold" panose="020B0702040204020203" pitchFamily="34" charset="0"/>
              </a:rPr>
              <a:t>Ключевое следствие: платформа автоматизирует только подтвержденные и заранее поддержанные действия восстановления.</a:t>
            </a:r>
          </a:p>
        </p:txBody>
      </p:sp>
    </p:spTree>
    <p:extLst>
      <p:ext uri="{BB962C8B-B14F-4D97-AF65-F5344CB8AC3E}">
        <p14:creationId xmlns:p14="http://schemas.microsoft.com/office/powerpoint/2010/main" val="1976649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52FFDB4-66EA-4480-BCF8-D147331BA9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0F2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B6E9C9-FA9A-41AE-A65A-75479D5663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6000"/>
            </a:srgbClr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0BCA5-DC51-4996-A98E-5712DEDFFD96}"/>
              </a:ext>
            </a:extLst>
          </p:cNvPr>
          <p:cNvSpPr txBox="1"/>
          <p:nvPr/>
        </p:nvSpPr>
        <p:spPr>
          <a:xfrm>
            <a:off x="584200" y="444500"/>
            <a:ext cx="431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 b="1">
                <a:solidFill>
                  <a:srgbClr val="42454B"/>
                </a:solidFill>
                <a:latin typeface="Segoe UI Semibold" panose="020B0702040204020203" pitchFamily="34" charset="0"/>
              </a:rPr>
              <a:t>АРХИТЕКТУРА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B2425-3FC0-4FE0-A038-E13B47167A6E}"/>
              </a:ext>
            </a:extLst>
          </p:cNvPr>
          <p:cNvSpPr txBox="1"/>
          <p:nvPr/>
        </p:nvSpPr>
        <p:spPr>
          <a:xfrm>
            <a:off x="584200" y="787400"/>
            <a:ext cx="7112000" cy="95410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3100" b="1">
                <a:solidFill>
                  <a:srgbClr val="2D2D30"/>
                </a:solidFill>
                <a:latin typeface="Segoe UI Semibold" panose="020B0702040204020203" pitchFamily="34" charset="0"/>
              </a:rPr>
              <a:t>Архитектура решения и стек технологий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A4726-5109-4F13-9396-8731EFF4A152}"/>
              </a:ext>
            </a:extLst>
          </p:cNvPr>
          <p:cNvSpPr txBox="1"/>
          <p:nvPr/>
        </p:nvSpPr>
        <p:spPr>
          <a:xfrm>
            <a:off x="8001000" y="698500"/>
            <a:ext cx="3429000" cy="69249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>
                <a:solidFill>
                  <a:srgbClr val="55585F"/>
                </a:solidFill>
                <a:latin typeface="Segoe UI" panose="020B0502040204020203" pitchFamily="34" charset="0"/>
              </a:rPr>
              <a:t>Упрощённая схема построена по C4-диаграммам проекта и реальным сервисным контрактам.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76211-BB1E-4B64-A3EE-7A61045CF356}"/>
              </a:ext>
            </a:extLst>
          </p:cNvPr>
          <p:cNvSpPr txBox="1"/>
          <p:nvPr/>
        </p:nvSpPr>
        <p:spPr>
          <a:xfrm>
            <a:off x="11747500" y="6502400"/>
            <a:ext cx="254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900">
                <a:solidFill>
                  <a:srgbClr val="52565C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85E970B-1A2F-48A8-B7C4-52FE0FA845B2}"/>
              </a:ext>
            </a:extLst>
          </p:cNvPr>
          <p:cNvSpPr/>
          <p:nvPr/>
        </p:nvSpPr>
        <p:spPr>
          <a:xfrm>
            <a:off x="584200" y="1981200"/>
            <a:ext cx="7302500" cy="350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1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A2308F9-9A1E-402B-A339-25A244858990}"/>
              </a:ext>
            </a:extLst>
          </p:cNvPr>
          <p:cNvSpPr/>
          <p:nvPr/>
        </p:nvSpPr>
        <p:spPr>
          <a:xfrm>
            <a:off x="3098800" y="2349500"/>
            <a:ext cx="2209800" cy="939800"/>
          </a:xfrm>
          <a:prstGeom prst="roundRect">
            <a:avLst/>
          </a:prstGeom>
          <a:solidFill>
            <a:srgbClr val="3685CF"/>
          </a:solidFill>
          <a:ln w="13970">
            <a:solidFill>
              <a:srgbClr val="2168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E5A27-D6E5-4AD1-B2FC-51BF628455C0}"/>
              </a:ext>
            </a:extLst>
          </p:cNvPr>
          <p:cNvSpPr txBox="1"/>
          <p:nvPr/>
        </p:nvSpPr>
        <p:spPr>
          <a:xfrm>
            <a:off x="3276600" y="2527300"/>
            <a:ext cx="1854200" cy="2616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Segoe UI Semibold" panose="020B0702040204020203" pitchFamily="34" charset="0"/>
              </a:rPr>
              <a:t>ParserSvc</a:t>
            </a:r>
            <a:endParaRPr lang="ru-RU" sz="17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EC47C-F67D-43AA-859F-63D03933DF46}"/>
              </a:ext>
            </a:extLst>
          </p:cNvPr>
          <p:cNvSpPr txBox="1"/>
          <p:nvPr/>
        </p:nvSpPr>
        <p:spPr>
          <a:xfrm>
            <a:off x="3276600" y="2882900"/>
            <a:ext cx="185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ECF4FF"/>
                </a:solidFill>
                <a:latin typeface="Segoe UI" panose="020B0502040204020203" pitchFamily="34" charset="0"/>
              </a:rPr>
              <a:t>Go, Gin, REST API</a:t>
            </a:r>
            <a:endParaRPr lang="ru-RU" sz="900">
              <a:solidFill>
                <a:srgbClr val="ECF4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8EDBD03-92DB-47E6-BCFF-1B41734F7521}"/>
              </a:ext>
            </a:extLst>
          </p:cNvPr>
          <p:cNvSpPr/>
          <p:nvPr/>
        </p:nvSpPr>
        <p:spPr>
          <a:xfrm>
            <a:off x="3098800" y="3937000"/>
            <a:ext cx="2209800" cy="939800"/>
          </a:xfrm>
          <a:prstGeom prst="roundRect">
            <a:avLst/>
          </a:prstGeom>
          <a:solidFill>
            <a:srgbClr val="3685CF"/>
          </a:solidFill>
          <a:ln w="13970">
            <a:solidFill>
              <a:srgbClr val="2168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DDD0F2-4501-4A00-92AE-E1C4BAB3765B}"/>
              </a:ext>
            </a:extLst>
          </p:cNvPr>
          <p:cNvSpPr txBox="1"/>
          <p:nvPr/>
        </p:nvSpPr>
        <p:spPr>
          <a:xfrm>
            <a:off x="3276600" y="4114800"/>
            <a:ext cx="1854200" cy="2616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Segoe UI Semibold" panose="020B0702040204020203" pitchFamily="34" charset="0"/>
              </a:rPr>
              <a:t>InventorySvc</a:t>
            </a:r>
            <a:endParaRPr lang="ru-RU" sz="17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3953B-B622-491D-8F61-55844991E043}"/>
              </a:ext>
            </a:extLst>
          </p:cNvPr>
          <p:cNvSpPr txBox="1"/>
          <p:nvPr/>
        </p:nvSpPr>
        <p:spPr>
          <a:xfrm>
            <a:off x="3276600" y="4470400"/>
            <a:ext cx="185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ECF4FF"/>
                </a:solidFill>
                <a:latin typeface="Segoe UI" panose="020B0502040204020203" pitchFamily="34" charset="0"/>
              </a:rPr>
              <a:t>Go, Gin, cAdvisor</a:t>
            </a:r>
            <a:endParaRPr lang="ru-RU" sz="900">
              <a:solidFill>
                <a:srgbClr val="ECF4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B9F2839-7598-4F61-9D29-2A20BEE8BB24}"/>
              </a:ext>
            </a:extLst>
          </p:cNvPr>
          <p:cNvSpPr/>
          <p:nvPr/>
        </p:nvSpPr>
        <p:spPr>
          <a:xfrm>
            <a:off x="5943600" y="3136900"/>
            <a:ext cx="2209800" cy="939800"/>
          </a:xfrm>
          <a:prstGeom prst="roundRect">
            <a:avLst/>
          </a:prstGeom>
          <a:solidFill>
            <a:srgbClr val="0068D3"/>
          </a:solidFill>
          <a:ln w="13970">
            <a:solidFill>
              <a:srgbClr val="2168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F7259F-C03E-4290-AEF0-4A201EFD11B1}"/>
              </a:ext>
            </a:extLst>
          </p:cNvPr>
          <p:cNvSpPr txBox="1"/>
          <p:nvPr/>
        </p:nvSpPr>
        <p:spPr>
          <a:xfrm>
            <a:off x="6121400" y="3314700"/>
            <a:ext cx="1854200" cy="2616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Segoe UI Semibold" panose="020B0702040204020203" pitchFamily="34" charset="0"/>
              </a:rPr>
              <a:t>DriftDetectorSvc</a:t>
            </a:r>
            <a:endParaRPr lang="ru-RU" sz="17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EDC1FB-B923-43F0-ABF8-75BFBDEB14FD}"/>
              </a:ext>
            </a:extLst>
          </p:cNvPr>
          <p:cNvSpPr txBox="1"/>
          <p:nvPr/>
        </p:nvSpPr>
        <p:spPr>
          <a:xfrm>
            <a:off x="6121400" y="3670300"/>
            <a:ext cx="185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ECF4FF"/>
                </a:solidFill>
                <a:latin typeface="Segoe UI" panose="020B0502040204020203" pitchFamily="34" charset="0"/>
              </a:rPr>
              <a:t>Go, scheduler, clients</a:t>
            </a:r>
            <a:endParaRPr lang="ru-RU" sz="900">
              <a:solidFill>
                <a:srgbClr val="ECF4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66161F0-8CB7-4E41-91C0-8922520325CF}"/>
              </a:ext>
            </a:extLst>
          </p:cNvPr>
          <p:cNvSpPr/>
          <p:nvPr/>
        </p:nvSpPr>
        <p:spPr>
          <a:xfrm>
            <a:off x="8763000" y="3136900"/>
            <a:ext cx="2209800" cy="939800"/>
          </a:xfrm>
          <a:prstGeom prst="roundRect">
            <a:avLst/>
          </a:prstGeom>
          <a:solidFill>
            <a:srgbClr val="363C43"/>
          </a:solidFill>
          <a:ln w="13970">
            <a:solidFill>
              <a:srgbClr val="2168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D8FA8D-494A-484D-A5FA-430A210DC971}"/>
              </a:ext>
            </a:extLst>
          </p:cNvPr>
          <p:cNvSpPr txBox="1"/>
          <p:nvPr/>
        </p:nvSpPr>
        <p:spPr>
          <a:xfrm>
            <a:off x="8940800" y="3314700"/>
            <a:ext cx="1854200" cy="2616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Segoe UI Semibold" panose="020B0702040204020203" pitchFamily="34" charset="0"/>
              </a:rPr>
              <a:t>ReconcilerSvc</a:t>
            </a:r>
            <a:endParaRPr lang="ru-RU" sz="17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8039C4-BF9E-4B9D-8644-6B6E6D54183D}"/>
              </a:ext>
            </a:extLst>
          </p:cNvPr>
          <p:cNvSpPr txBox="1"/>
          <p:nvPr/>
        </p:nvSpPr>
        <p:spPr>
          <a:xfrm>
            <a:off x="8940800" y="3670300"/>
            <a:ext cx="185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ECF4FF"/>
                </a:solidFill>
                <a:latin typeface="Segoe UI" panose="020B0502040204020203" pitchFamily="34" charset="0"/>
              </a:rPr>
              <a:t>Python, FastAPI, Ansible</a:t>
            </a:r>
            <a:endParaRPr lang="ru-RU" sz="900">
              <a:solidFill>
                <a:srgbClr val="ECF4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2967FE8-274D-4CC9-87E8-15472AD15CBC}"/>
              </a:ext>
            </a:extLst>
          </p:cNvPr>
          <p:cNvSpPr/>
          <p:nvPr/>
        </p:nvSpPr>
        <p:spPr>
          <a:xfrm>
            <a:off x="711200" y="2349500"/>
            <a:ext cx="2032000" cy="10922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C1F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1D549F-4A5D-4999-B848-65C6080B15C1}"/>
              </a:ext>
            </a:extLst>
          </p:cNvPr>
          <p:cNvSpPr txBox="1"/>
          <p:nvPr/>
        </p:nvSpPr>
        <p:spPr>
          <a:xfrm>
            <a:off x="990600" y="2603500"/>
            <a:ext cx="14986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 b="1">
                <a:solidFill>
                  <a:srgbClr val="2D2D30"/>
                </a:solidFill>
                <a:latin typeface="Segoe UI Semibold" panose="020B0702040204020203" pitchFamily="34" charset="0"/>
              </a:rPr>
              <a:t>AaC</a:t>
            </a:r>
            <a:endParaRPr lang="ru-RU" sz="1900" b="1">
              <a:solidFill>
                <a:srgbClr val="2D2D3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304CAF-3509-4765-8BBC-7308CF668005}"/>
              </a:ext>
            </a:extLst>
          </p:cNvPr>
          <p:cNvSpPr txBox="1"/>
          <p:nvPr/>
        </p:nvSpPr>
        <p:spPr>
          <a:xfrm>
            <a:off x="990600" y="3009900"/>
            <a:ext cx="14986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000">
                <a:solidFill>
                  <a:srgbClr val="53575E"/>
                </a:solidFill>
                <a:latin typeface="Segoe UI" panose="020B0502040204020203" pitchFamily="34" charset="0"/>
              </a:rPr>
              <a:t>Structurizr JSON
</a:t>
            </a:r>
            <a:r>
              <a:rPr lang="ru-RU" sz="1000">
                <a:solidFill>
                  <a:srgbClr val="53575E"/>
                </a:solidFill>
                <a:latin typeface="Segoe UI" panose="020B0502040204020203" pitchFamily="34" charset="0"/>
              </a:rPr>
              <a:t>манифесты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E8691AD2-780B-419E-8389-C2474A92317A}"/>
              </a:ext>
            </a:extLst>
          </p:cNvPr>
          <p:cNvSpPr/>
          <p:nvPr/>
        </p:nvSpPr>
        <p:spPr>
          <a:xfrm>
            <a:off x="711200" y="3937000"/>
            <a:ext cx="2032000" cy="10922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C1F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93E55F-AC97-40E1-BA77-9CCE9B19D5DF}"/>
              </a:ext>
            </a:extLst>
          </p:cNvPr>
          <p:cNvSpPr txBox="1"/>
          <p:nvPr/>
        </p:nvSpPr>
        <p:spPr>
          <a:xfrm>
            <a:off x="990600" y="4152900"/>
            <a:ext cx="14986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600" b="1">
                <a:solidFill>
                  <a:srgbClr val="2D2D30"/>
                </a:solidFill>
                <a:latin typeface="Segoe UI Semibold" panose="020B0702040204020203" pitchFamily="34" charset="0"/>
              </a:rPr>
              <a:t>Управляемый хост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65873F-DC5B-4B48-8269-40672A500715}"/>
              </a:ext>
            </a:extLst>
          </p:cNvPr>
          <p:cNvSpPr txBox="1"/>
          <p:nvPr/>
        </p:nvSpPr>
        <p:spPr>
          <a:xfrm>
            <a:off x="990600" y="4635500"/>
            <a:ext cx="14986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000">
                <a:solidFill>
                  <a:srgbClr val="53575E"/>
                </a:solidFill>
                <a:latin typeface="Segoe UI" panose="020B0502040204020203" pitchFamily="34" charset="0"/>
              </a:rPr>
              <a:t>Docker, cAdvisor, SSH</a:t>
            </a:r>
            <a:endParaRPr lang="ru-RU" sz="10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39DE0FAE-D6B4-4854-8B5F-30A331AE5938}"/>
              </a:ext>
            </a:extLst>
          </p:cNvPr>
          <p:cNvCxnSpPr/>
          <p:nvPr/>
        </p:nvCxnSpPr>
        <p:spPr>
          <a:xfrm flipV="1">
            <a:off x="2743200" y="2819400"/>
            <a:ext cx="355600" cy="50800"/>
          </a:xfrm>
          <a:prstGeom prst="line">
            <a:avLst/>
          </a:prstGeom>
          <a:ln w="19050">
            <a:solidFill>
              <a:srgbClr val="6E76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418A9CD5-A5D0-4640-9DC2-7C0305690574}"/>
              </a:ext>
            </a:extLst>
          </p:cNvPr>
          <p:cNvCxnSpPr/>
          <p:nvPr/>
        </p:nvCxnSpPr>
        <p:spPr>
          <a:xfrm flipV="1">
            <a:off x="2743200" y="4406900"/>
            <a:ext cx="355600" cy="50800"/>
          </a:xfrm>
          <a:prstGeom prst="line">
            <a:avLst/>
          </a:prstGeom>
          <a:ln w="19050">
            <a:solidFill>
              <a:srgbClr val="6E76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89649CB-A277-48EB-BA46-24C2515E81D8}"/>
              </a:ext>
            </a:extLst>
          </p:cNvPr>
          <p:cNvCxnSpPr/>
          <p:nvPr/>
        </p:nvCxnSpPr>
        <p:spPr>
          <a:xfrm>
            <a:off x="5308600" y="2819400"/>
            <a:ext cx="635000" cy="584200"/>
          </a:xfrm>
          <a:prstGeom prst="line">
            <a:avLst/>
          </a:prstGeom>
          <a:ln w="19050">
            <a:solidFill>
              <a:srgbClr val="6E76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3F520C7D-10F1-474B-AC2C-DDA974EBDA99}"/>
              </a:ext>
            </a:extLst>
          </p:cNvPr>
          <p:cNvCxnSpPr/>
          <p:nvPr/>
        </p:nvCxnSpPr>
        <p:spPr>
          <a:xfrm flipV="1">
            <a:off x="5308600" y="3733800"/>
            <a:ext cx="635000" cy="673100"/>
          </a:xfrm>
          <a:prstGeom prst="line">
            <a:avLst/>
          </a:prstGeom>
          <a:ln w="19050">
            <a:solidFill>
              <a:srgbClr val="6E76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0E8DC713-C0DD-4DDC-BDB8-7D4430D9418D}"/>
              </a:ext>
            </a:extLst>
          </p:cNvPr>
          <p:cNvCxnSpPr/>
          <p:nvPr/>
        </p:nvCxnSpPr>
        <p:spPr>
          <a:xfrm>
            <a:off x="8153400" y="3606800"/>
            <a:ext cx="609600" cy="0"/>
          </a:xfrm>
          <a:prstGeom prst="line">
            <a:avLst/>
          </a:prstGeom>
          <a:ln w="21590">
            <a:solidFill>
              <a:srgbClr val="6E76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CE2F8E17-1E05-4CF1-8E44-70CA9BAD3960}"/>
              </a:ext>
            </a:extLst>
          </p:cNvPr>
          <p:cNvCxnSpPr/>
          <p:nvPr/>
        </p:nvCxnSpPr>
        <p:spPr>
          <a:xfrm>
            <a:off x="9867900" y="4076700"/>
            <a:ext cx="0" cy="1028700"/>
          </a:xfrm>
          <a:prstGeom prst="line">
            <a:avLst/>
          </a:prstGeom>
          <a:ln w="17780">
            <a:solidFill>
              <a:srgbClr val="6E76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04020249-300A-443F-BDD5-2CA8A3C54661}"/>
              </a:ext>
            </a:extLst>
          </p:cNvPr>
          <p:cNvCxnSpPr/>
          <p:nvPr/>
        </p:nvCxnSpPr>
        <p:spPr>
          <a:xfrm flipH="1" flipV="1">
            <a:off x="2743200" y="4775200"/>
            <a:ext cx="7124700" cy="330200"/>
          </a:xfrm>
          <a:prstGeom prst="line">
            <a:avLst/>
          </a:prstGeom>
          <a:ln w="17780">
            <a:solidFill>
              <a:srgbClr val="6E76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EB09642-C070-4710-87BA-EE0589B87A8A}"/>
              </a:ext>
            </a:extLst>
          </p:cNvPr>
          <p:cNvSpPr txBox="1"/>
          <p:nvPr/>
        </p:nvSpPr>
        <p:spPr>
          <a:xfrm>
            <a:off x="5461000" y="2628900"/>
            <a:ext cx="12065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5B5E63"/>
                </a:solidFill>
                <a:latin typeface="Segoe UI" panose="020B0502040204020203" pitchFamily="34" charset="0"/>
              </a:rPr>
              <a:t>desired state</a:t>
            </a:r>
            <a:endParaRPr lang="ru-RU" sz="9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64F038-D611-401C-BC63-BEE67C88E77B}"/>
              </a:ext>
            </a:extLst>
          </p:cNvPr>
          <p:cNvSpPr txBox="1"/>
          <p:nvPr/>
        </p:nvSpPr>
        <p:spPr>
          <a:xfrm>
            <a:off x="5461000" y="4457700"/>
            <a:ext cx="12065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5B5E63"/>
                </a:solidFill>
                <a:latin typeface="Segoe UI" panose="020B0502040204020203" pitchFamily="34" charset="0"/>
              </a:rPr>
              <a:t>actual state</a:t>
            </a:r>
            <a:endParaRPr lang="ru-RU" sz="9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F88C7D-69F1-494C-942D-CD2134C1FC53}"/>
              </a:ext>
            </a:extLst>
          </p:cNvPr>
          <p:cNvSpPr txBox="1"/>
          <p:nvPr/>
        </p:nvSpPr>
        <p:spPr>
          <a:xfrm>
            <a:off x="8128000" y="32766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5B5E63"/>
                </a:solidFill>
                <a:latin typeface="Segoe UI" panose="020B0502040204020203" pitchFamily="34" charset="0"/>
              </a:rPr>
              <a:t>reconcile</a:t>
            </a:r>
            <a:endParaRPr lang="ru-RU" sz="9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F1F0DF4-B826-4E20-8E98-931A517F7CC8}"/>
              </a:ext>
            </a:extLst>
          </p:cNvPr>
          <p:cNvSpPr/>
          <p:nvPr/>
        </p:nvSpPr>
        <p:spPr>
          <a:xfrm>
            <a:off x="8178800" y="2006600"/>
            <a:ext cx="3314700" cy="9398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0CEB6E-F2EE-4DDF-8AB9-624F359B8FD2}"/>
              </a:ext>
            </a:extLst>
          </p:cNvPr>
          <p:cNvSpPr txBox="1"/>
          <p:nvPr/>
        </p:nvSpPr>
        <p:spPr>
          <a:xfrm>
            <a:off x="8432800" y="2209800"/>
            <a:ext cx="1270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600" b="1">
                <a:solidFill>
                  <a:srgbClr val="2D2D30"/>
                </a:solidFill>
                <a:latin typeface="Segoe UI Semibold" panose="020B0702040204020203" pitchFamily="34" charset="0"/>
              </a:rPr>
              <a:t>Стек </a:t>
            </a:r>
            <a:r>
              <a:rPr lang="en-US" sz="1600" b="1">
                <a:solidFill>
                  <a:srgbClr val="2D2D30"/>
                </a:solidFill>
                <a:latin typeface="Segoe UI Semibold" panose="020B0702040204020203" pitchFamily="34" charset="0"/>
              </a:rPr>
              <a:t>MVP</a:t>
            </a:r>
            <a:endParaRPr lang="ru-RU" sz="1600" b="1">
              <a:solidFill>
                <a:srgbClr val="2D2D3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4604E4FD-97FF-423A-A17C-D35E005C541C}"/>
              </a:ext>
            </a:extLst>
          </p:cNvPr>
          <p:cNvSpPr/>
          <p:nvPr/>
        </p:nvSpPr>
        <p:spPr>
          <a:xfrm>
            <a:off x="8420100" y="2590800"/>
            <a:ext cx="533400" cy="304800"/>
          </a:xfrm>
          <a:prstGeom prst="roundRect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3074B7-E5E1-4127-9C9E-5DF04BD05A26}"/>
              </a:ext>
            </a:extLst>
          </p:cNvPr>
          <p:cNvSpPr txBox="1"/>
          <p:nvPr/>
        </p:nvSpPr>
        <p:spPr>
          <a:xfrm>
            <a:off x="8547100" y="2698150"/>
            <a:ext cx="279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 Semibold" panose="020B0702040204020203" pitchFamily="34" charset="0"/>
              </a:rPr>
              <a:t>Go</a:t>
            </a:r>
            <a:endParaRPr lang="ru-RU" sz="90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24CFB36A-FD52-49D0-A92F-23512DAB965A}"/>
              </a:ext>
            </a:extLst>
          </p:cNvPr>
          <p:cNvSpPr/>
          <p:nvPr/>
        </p:nvSpPr>
        <p:spPr>
          <a:xfrm>
            <a:off x="9042400" y="2590800"/>
            <a:ext cx="990600" cy="304800"/>
          </a:xfrm>
          <a:prstGeom prst="roundRect">
            <a:avLst/>
          </a:prstGeom>
          <a:solidFill>
            <a:srgbClr val="363C4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C6E954-4A88-40C3-9CE5-27CBAF76BEF6}"/>
              </a:ext>
            </a:extLst>
          </p:cNvPr>
          <p:cNvSpPr txBox="1"/>
          <p:nvPr/>
        </p:nvSpPr>
        <p:spPr>
          <a:xfrm>
            <a:off x="9169400" y="2698150"/>
            <a:ext cx="7366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 Semibold" panose="020B0702040204020203" pitchFamily="34" charset="0"/>
              </a:rPr>
              <a:t>FastAPI</a:t>
            </a:r>
            <a:endParaRPr lang="ru-RU" sz="90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A5FCFBE5-4AE5-4C34-8E43-40F4F2CB826B}"/>
              </a:ext>
            </a:extLst>
          </p:cNvPr>
          <p:cNvSpPr/>
          <p:nvPr/>
        </p:nvSpPr>
        <p:spPr>
          <a:xfrm>
            <a:off x="10160000" y="2590800"/>
            <a:ext cx="914400" cy="304800"/>
          </a:xfrm>
          <a:prstGeom prst="roundRect">
            <a:avLst/>
          </a:prstGeom>
          <a:solidFill>
            <a:srgbClr val="363C4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CE29B1-EF2F-4284-A237-E175CB560043}"/>
              </a:ext>
            </a:extLst>
          </p:cNvPr>
          <p:cNvSpPr txBox="1"/>
          <p:nvPr/>
        </p:nvSpPr>
        <p:spPr>
          <a:xfrm>
            <a:off x="10287000" y="2698150"/>
            <a:ext cx="660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 Semibold" panose="020B0702040204020203" pitchFamily="34" charset="0"/>
              </a:rPr>
              <a:t>Docker</a:t>
            </a:r>
            <a:endParaRPr lang="ru-RU" sz="90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01ACD70E-A331-4432-BC1B-C833726C080C}"/>
              </a:ext>
            </a:extLst>
          </p:cNvPr>
          <p:cNvSpPr/>
          <p:nvPr/>
        </p:nvSpPr>
        <p:spPr>
          <a:xfrm>
            <a:off x="8178800" y="5397500"/>
            <a:ext cx="1600200" cy="304800"/>
          </a:xfrm>
          <a:prstGeom prst="roundRect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DA4531-73BF-440D-B29E-114C243E2DF8}"/>
              </a:ext>
            </a:extLst>
          </p:cNvPr>
          <p:cNvSpPr txBox="1"/>
          <p:nvPr/>
        </p:nvSpPr>
        <p:spPr>
          <a:xfrm>
            <a:off x="8305800" y="550485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 Semibold" panose="020B0702040204020203" pitchFamily="34" charset="0"/>
              </a:rPr>
              <a:t>Structurizr JSON</a:t>
            </a:r>
            <a:endParaRPr lang="ru-RU" sz="90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355AA16E-7CBD-441B-9426-4404238FF5BD}"/>
              </a:ext>
            </a:extLst>
          </p:cNvPr>
          <p:cNvSpPr/>
          <p:nvPr/>
        </p:nvSpPr>
        <p:spPr>
          <a:xfrm>
            <a:off x="9931400" y="5397500"/>
            <a:ext cx="1041400" cy="304800"/>
          </a:xfrm>
          <a:prstGeom prst="roundRect">
            <a:avLst/>
          </a:prstGeom>
          <a:solidFill>
            <a:srgbClr val="363C4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BDDACE-56CC-45C1-9C75-3776CC06033C}"/>
              </a:ext>
            </a:extLst>
          </p:cNvPr>
          <p:cNvSpPr txBox="1"/>
          <p:nvPr/>
        </p:nvSpPr>
        <p:spPr>
          <a:xfrm>
            <a:off x="10058400" y="5504850"/>
            <a:ext cx="787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 Semibold" panose="020B0702040204020203" pitchFamily="34" charset="0"/>
              </a:rPr>
              <a:t>cAdvisor</a:t>
            </a:r>
            <a:endParaRPr lang="ru-RU" sz="90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5162823B-1DF3-4179-A15E-3ECEECB81FC8}"/>
              </a:ext>
            </a:extLst>
          </p:cNvPr>
          <p:cNvSpPr/>
          <p:nvPr/>
        </p:nvSpPr>
        <p:spPr>
          <a:xfrm>
            <a:off x="8178800" y="5791200"/>
            <a:ext cx="1600200" cy="304800"/>
          </a:xfrm>
          <a:prstGeom prst="roundRect">
            <a:avLst/>
          </a:prstGeom>
          <a:solidFill>
            <a:srgbClr val="363C4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1E2793-41B9-408F-90E6-6B16C974B36D}"/>
              </a:ext>
            </a:extLst>
          </p:cNvPr>
          <p:cNvSpPr txBox="1"/>
          <p:nvPr/>
        </p:nvSpPr>
        <p:spPr>
          <a:xfrm>
            <a:off x="8305800" y="589855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 Semibold" panose="020B0702040204020203" pitchFamily="34" charset="0"/>
              </a:rPr>
              <a:t>Ansible Runner</a:t>
            </a:r>
            <a:endParaRPr lang="ru-RU" sz="90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83FCE4-CE8C-4F0F-AF09-AF84A1B44760}"/>
              </a:ext>
            </a:extLst>
          </p:cNvPr>
          <p:cNvSpPr txBox="1"/>
          <p:nvPr/>
        </p:nvSpPr>
        <p:spPr>
          <a:xfrm>
            <a:off x="711200" y="5867400"/>
            <a:ext cx="6604000" cy="4001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300" b="1">
                <a:solidFill>
                  <a:srgbClr val="2D2D30"/>
                </a:solidFill>
                <a:latin typeface="Segoe UI Semibold" panose="020B0702040204020203" pitchFamily="34" charset="0"/>
              </a:rPr>
              <a:t>Сервисы не разделяют внутреннее состояние: каждый слой скрыт за API, что снижает связность и упрощает развитие.</a:t>
            </a:r>
          </a:p>
        </p:txBody>
      </p:sp>
    </p:spTree>
    <p:extLst>
      <p:ext uri="{BB962C8B-B14F-4D97-AF65-F5344CB8AC3E}">
        <p14:creationId xmlns:p14="http://schemas.microsoft.com/office/powerpoint/2010/main" val="172386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EE1386-C6F1-4E02-BFC3-CD0AFBCA70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0F2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84EF820-B1A7-4093-BC26-F081393192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6000"/>
            </a:srgbClr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2B5F8-8C0E-451B-B9AB-9F0B97B3C627}"/>
              </a:ext>
            </a:extLst>
          </p:cNvPr>
          <p:cNvSpPr txBox="1"/>
          <p:nvPr/>
        </p:nvSpPr>
        <p:spPr>
          <a:xfrm>
            <a:off x="584200" y="444500"/>
            <a:ext cx="431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 b="1">
                <a:solidFill>
                  <a:srgbClr val="42454B"/>
                </a:solidFill>
                <a:latin typeface="Segoe UI Semibold" panose="020B0702040204020203" pitchFamily="34" charset="0"/>
              </a:rPr>
              <a:t>МОДЕЛЬ И АЛГОРИТМ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19C391-9A1D-4F12-8C69-C1DB5CF75601}"/>
              </a:ext>
            </a:extLst>
          </p:cNvPr>
          <p:cNvSpPr txBox="1"/>
          <p:nvPr/>
        </p:nvSpPr>
        <p:spPr>
          <a:xfrm>
            <a:off x="584200" y="787400"/>
            <a:ext cx="7112000" cy="95410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3100" b="1">
                <a:solidFill>
                  <a:srgbClr val="2D2D30"/>
                </a:solidFill>
                <a:latin typeface="Segoe UI Semibold" panose="020B0702040204020203" pitchFamily="34" charset="0"/>
              </a:rPr>
              <a:t>Control loop: desired → actual → drift → reconcile</a:t>
            </a:r>
            <a:endParaRPr lang="ru-RU" sz="3100" b="1">
              <a:solidFill>
                <a:srgbClr val="2D2D3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31ECD-1AC0-4F78-9886-6B6DF440FCE9}"/>
              </a:ext>
            </a:extLst>
          </p:cNvPr>
          <p:cNvSpPr txBox="1"/>
          <p:nvPr/>
        </p:nvSpPr>
        <p:spPr>
          <a:xfrm>
            <a:off x="8001000" y="698500"/>
            <a:ext cx="3429000" cy="69249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>
                <a:solidFill>
                  <a:srgbClr val="55585F"/>
                </a:solidFill>
                <a:latin typeface="Segoe UI" panose="020B0502040204020203" pitchFamily="34" charset="0"/>
              </a:rPr>
              <a:t>Вместо ML-модели в работе используется модель согласования состояния инфраструктуры.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C66AB-F1D8-465E-BA2E-B34B907127CB}"/>
              </a:ext>
            </a:extLst>
          </p:cNvPr>
          <p:cNvSpPr txBox="1"/>
          <p:nvPr/>
        </p:nvSpPr>
        <p:spPr>
          <a:xfrm>
            <a:off x="11747500" y="6502400"/>
            <a:ext cx="254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900">
                <a:solidFill>
                  <a:srgbClr val="52565C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04AC96-DE68-4354-A429-927C92A71A58}"/>
              </a:ext>
            </a:extLst>
          </p:cNvPr>
          <p:cNvSpPr/>
          <p:nvPr/>
        </p:nvSpPr>
        <p:spPr>
          <a:xfrm>
            <a:off x="609600" y="2057400"/>
            <a:ext cx="4724400" cy="3683000"/>
          </a:xfrm>
          <a:prstGeom prst="roundRect">
            <a:avLst/>
          </a:prstGeom>
          <a:solidFill>
            <a:srgbClr val="2F303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779054E-D9DB-4B4C-83F6-C5A49CC66609}"/>
              </a:ext>
            </a:extLst>
          </p:cNvPr>
          <p:cNvSpPr/>
          <p:nvPr/>
        </p:nvSpPr>
        <p:spPr>
          <a:xfrm>
            <a:off x="889000" y="23114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E4D624-DA1F-48CA-82D0-C9B05A03FE90}"/>
              </a:ext>
            </a:extLst>
          </p:cNvPr>
          <p:cNvSpPr txBox="1"/>
          <p:nvPr/>
        </p:nvSpPr>
        <p:spPr>
          <a:xfrm>
            <a:off x="889000" y="2425700"/>
            <a:ext cx="50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12CB3C-A3C4-4172-AD85-08C15615D50F}"/>
              </a:ext>
            </a:extLst>
          </p:cNvPr>
          <p:cNvSpPr txBox="1"/>
          <p:nvPr/>
        </p:nvSpPr>
        <p:spPr>
          <a:xfrm>
            <a:off x="1600200" y="23241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Desired state</a:t>
            </a:r>
            <a:endParaRPr lang="ru-RU" sz="14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371AC7-B6F5-4BCB-A1EA-D30177986292}"/>
              </a:ext>
            </a:extLst>
          </p:cNvPr>
          <p:cNvSpPr txBox="1"/>
          <p:nvPr/>
        </p:nvSpPr>
        <p:spPr>
          <a:xfrm>
            <a:off x="1600200" y="2603500"/>
            <a:ext cx="3175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E4E8EE"/>
                </a:solidFill>
                <a:latin typeface="Segoe UI" panose="020B0502040204020203" pitchFamily="34" charset="0"/>
              </a:rPr>
              <a:t>ParserSvc </a:t>
            </a:r>
            <a:r>
              <a:rPr lang="ru-RU" sz="900">
                <a:solidFill>
                  <a:srgbClr val="E4E8EE"/>
                </a:solidFill>
                <a:latin typeface="Segoe UI" panose="020B0502040204020203" pitchFamily="34" charset="0"/>
              </a:rPr>
              <a:t>извлекает </a:t>
            </a:r>
            <a:r>
              <a:rPr lang="en-US" sz="900">
                <a:solidFill>
                  <a:srgbClr val="E4E8EE"/>
                </a:solidFill>
                <a:latin typeface="Segoe UI" panose="020B0502040204020203" pitchFamily="34" charset="0"/>
              </a:rPr>
              <a:t>host-centric </a:t>
            </a:r>
            <a:r>
              <a:rPr lang="ru-RU" sz="900">
                <a:solidFill>
                  <a:srgbClr val="E4E8EE"/>
                </a:solidFill>
                <a:latin typeface="Segoe UI" panose="020B0502040204020203" pitchFamily="34" charset="0"/>
              </a:rPr>
              <a:t>модель из </a:t>
            </a:r>
            <a:r>
              <a:rPr lang="en-US" sz="900">
                <a:solidFill>
                  <a:srgbClr val="E4E8EE"/>
                </a:solidFill>
                <a:latin typeface="Segoe UI" panose="020B0502040204020203" pitchFamily="34" charset="0"/>
              </a:rPr>
              <a:t>Structurizr JSON.</a:t>
            </a:r>
            <a:endParaRPr lang="ru-RU" sz="900">
              <a:solidFill>
                <a:srgbClr val="E4E8EE"/>
              </a:solidFill>
              <a:latin typeface="Segoe UI" panose="020B0502040204020203" pitchFamily="34" charset="0"/>
            </a:endParaRP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9F08BAE-098F-400F-A828-250AB3605746}"/>
              </a:ext>
            </a:extLst>
          </p:cNvPr>
          <p:cNvCxnSpPr/>
          <p:nvPr/>
        </p:nvCxnSpPr>
        <p:spPr>
          <a:xfrm>
            <a:off x="1143000" y="2844800"/>
            <a:ext cx="0" cy="177800"/>
          </a:xfrm>
          <a:prstGeom prst="line">
            <a:avLst/>
          </a:prstGeom>
          <a:ln w="15240">
            <a:solidFill>
              <a:srgbClr val="91B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A75EDD52-637A-4ECF-875B-2B1CABB8610E}"/>
              </a:ext>
            </a:extLst>
          </p:cNvPr>
          <p:cNvSpPr/>
          <p:nvPr/>
        </p:nvSpPr>
        <p:spPr>
          <a:xfrm>
            <a:off x="889000" y="29718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7F361A-87AF-4CE6-97DF-00020F7F264E}"/>
              </a:ext>
            </a:extLst>
          </p:cNvPr>
          <p:cNvSpPr txBox="1"/>
          <p:nvPr/>
        </p:nvSpPr>
        <p:spPr>
          <a:xfrm>
            <a:off x="889000" y="3086100"/>
            <a:ext cx="50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A3B780-CBBF-49EC-A228-DF1DEA0DD699}"/>
              </a:ext>
            </a:extLst>
          </p:cNvPr>
          <p:cNvSpPr txBox="1"/>
          <p:nvPr/>
        </p:nvSpPr>
        <p:spPr>
          <a:xfrm>
            <a:off x="1600200" y="29845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Actual state</a:t>
            </a:r>
            <a:endParaRPr lang="ru-RU" sz="14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06A7FF-ECBA-4A8D-9790-D8F43A3AD3E6}"/>
              </a:ext>
            </a:extLst>
          </p:cNvPr>
          <p:cNvSpPr txBox="1"/>
          <p:nvPr/>
        </p:nvSpPr>
        <p:spPr>
          <a:xfrm>
            <a:off x="1600200" y="3263900"/>
            <a:ext cx="3175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E4E8EE"/>
                </a:solidFill>
                <a:latin typeface="Segoe UI" panose="020B0502040204020203" pitchFamily="34" charset="0"/>
              </a:rPr>
              <a:t>InventorySvc </a:t>
            </a:r>
            <a:r>
              <a:rPr lang="ru-RU" sz="900">
                <a:solidFill>
                  <a:srgbClr val="E4E8EE"/>
                </a:solidFill>
                <a:latin typeface="Segoe UI" panose="020B0502040204020203" pitchFamily="34" charset="0"/>
              </a:rPr>
              <a:t>формирует </a:t>
            </a:r>
            <a:r>
              <a:rPr lang="en-US" sz="900">
                <a:solidFill>
                  <a:srgbClr val="E4E8EE"/>
                </a:solidFill>
                <a:latin typeface="Segoe UI" panose="020B0502040204020203" pitchFamily="34" charset="0"/>
              </a:rPr>
              <a:t>snapshot </a:t>
            </a:r>
            <a:r>
              <a:rPr lang="ru-RU" sz="900">
                <a:solidFill>
                  <a:srgbClr val="E4E8EE"/>
                </a:solidFill>
                <a:latin typeface="Segoe UI" panose="020B0502040204020203" pitchFamily="34" charset="0"/>
              </a:rPr>
              <a:t>наблюдаемых </a:t>
            </a:r>
            <a:r>
              <a:rPr lang="en-US" sz="900">
                <a:solidFill>
                  <a:srgbClr val="E4E8EE"/>
                </a:solidFill>
                <a:latin typeface="Segoe UI" panose="020B0502040204020203" pitchFamily="34" charset="0"/>
              </a:rPr>
              <a:t>workload.</a:t>
            </a:r>
            <a:endParaRPr lang="ru-RU" sz="900">
              <a:solidFill>
                <a:srgbClr val="E4E8EE"/>
              </a:solidFill>
              <a:latin typeface="Segoe UI" panose="020B0502040204020203" pitchFamily="34" charset="0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207729D-33B3-456F-8913-8AE8E41D5F7C}"/>
              </a:ext>
            </a:extLst>
          </p:cNvPr>
          <p:cNvCxnSpPr/>
          <p:nvPr/>
        </p:nvCxnSpPr>
        <p:spPr>
          <a:xfrm>
            <a:off x="1143000" y="3505200"/>
            <a:ext cx="0" cy="177800"/>
          </a:xfrm>
          <a:prstGeom prst="line">
            <a:avLst/>
          </a:prstGeom>
          <a:ln w="15240">
            <a:solidFill>
              <a:srgbClr val="91B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EC608D9C-F7FD-4728-A421-1B80439DEF2E}"/>
              </a:ext>
            </a:extLst>
          </p:cNvPr>
          <p:cNvSpPr/>
          <p:nvPr/>
        </p:nvSpPr>
        <p:spPr>
          <a:xfrm>
            <a:off x="889000" y="36322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7999D8-0228-4B3C-8F59-A09285205FE9}"/>
              </a:ext>
            </a:extLst>
          </p:cNvPr>
          <p:cNvSpPr txBox="1"/>
          <p:nvPr/>
        </p:nvSpPr>
        <p:spPr>
          <a:xfrm>
            <a:off x="889000" y="3746500"/>
            <a:ext cx="50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69ACE0-DCF1-40E5-A6CA-7066B0E0C36A}"/>
              </a:ext>
            </a:extLst>
          </p:cNvPr>
          <p:cNvSpPr txBox="1"/>
          <p:nvPr/>
        </p:nvSpPr>
        <p:spPr>
          <a:xfrm>
            <a:off x="1600200" y="36449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Drift detection</a:t>
            </a:r>
            <a:endParaRPr lang="ru-RU" sz="14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17617C-6290-4E6A-92A6-0BDE43CC359F}"/>
              </a:ext>
            </a:extLst>
          </p:cNvPr>
          <p:cNvSpPr txBox="1"/>
          <p:nvPr/>
        </p:nvSpPr>
        <p:spPr>
          <a:xfrm>
            <a:off x="1600200" y="3924300"/>
            <a:ext cx="3175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900">
                <a:solidFill>
                  <a:srgbClr val="E4E8EE"/>
                </a:solidFill>
                <a:latin typeface="Segoe UI" panose="020B0502040204020203" pitchFamily="34" charset="0"/>
              </a:rPr>
              <a:t>Detector сравнивает состояния и учитывает partial data.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9D52D12-31A8-41C5-B60D-DD6E0C8066C6}"/>
              </a:ext>
            </a:extLst>
          </p:cNvPr>
          <p:cNvCxnSpPr/>
          <p:nvPr/>
        </p:nvCxnSpPr>
        <p:spPr>
          <a:xfrm>
            <a:off x="1143000" y="4165600"/>
            <a:ext cx="0" cy="177800"/>
          </a:xfrm>
          <a:prstGeom prst="line">
            <a:avLst/>
          </a:prstGeom>
          <a:ln w="15240">
            <a:solidFill>
              <a:srgbClr val="91B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4340C61E-245E-42C7-AC51-BF52EF9C44FE}"/>
              </a:ext>
            </a:extLst>
          </p:cNvPr>
          <p:cNvSpPr/>
          <p:nvPr/>
        </p:nvSpPr>
        <p:spPr>
          <a:xfrm>
            <a:off x="889000" y="42926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35573E-9334-4A59-A37F-D28B93165AC6}"/>
              </a:ext>
            </a:extLst>
          </p:cNvPr>
          <p:cNvSpPr txBox="1"/>
          <p:nvPr/>
        </p:nvSpPr>
        <p:spPr>
          <a:xfrm>
            <a:off x="889000" y="4406900"/>
            <a:ext cx="50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8EC25A-B6D0-4A0A-A9DB-6474E2BC6BAA}"/>
              </a:ext>
            </a:extLst>
          </p:cNvPr>
          <p:cNvSpPr txBox="1"/>
          <p:nvPr/>
        </p:nvSpPr>
        <p:spPr>
          <a:xfrm>
            <a:off x="1600200" y="43053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Cooldown</a:t>
            </a:r>
            <a:endParaRPr lang="ru-RU" sz="14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C2DD1-ED6D-4E26-A290-7475D6802BB7}"/>
              </a:ext>
            </a:extLst>
          </p:cNvPr>
          <p:cNvSpPr txBox="1"/>
          <p:nvPr/>
        </p:nvSpPr>
        <p:spPr>
          <a:xfrm>
            <a:off x="1600200" y="4584700"/>
            <a:ext cx="3175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900">
                <a:solidFill>
                  <a:srgbClr val="E4E8EE"/>
                </a:solidFill>
                <a:latin typeface="Segoe UI" panose="020B0502040204020203" pitchFamily="34" charset="0"/>
              </a:rPr>
              <a:t>Повторные reconcile-команды подавляются в заданном окне.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A899E5BD-EB4B-4FD9-968E-658458278819}"/>
              </a:ext>
            </a:extLst>
          </p:cNvPr>
          <p:cNvCxnSpPr/>
          <p:nvPr/>
        </p:nvCxnSpPr>
        <p:spPr>
          <a:xfrm>
            <a:off x="1143000" y="4826000"/>
            <a:ext cx="0" cy="177800"/>
          </a:xfrm>
          <a:prstGeom prst="line">
            <a:avLst/>
          </a:prstGeom>
          <a:ln w="15240">
            <a:solidFill>
              <a:srgbClr val="91B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Овал 28">
            <a:extLst>
              <a:ext uri="{FF2B5EF4-FFF2-40B4-BE49-F238E27FC236}">
                <a16:creationId xmlns:a16="http://schemas.microsoft.com/office/drawing/2014/main" id="{A27A474B-ACB3-46CB-A603-C6074E40E986}"/>
              </a:ext>
            </a:extLst>
          </p:cNvPr>
          <p:cNvSpPr/>
          <p:nvPr/>
        </p:nvSpPr>
        <p:spPr>
          <a:xfrm>
            <a:off x="889000" y="4953000"/>
            <a:ext cx="508000" cy="508000"/>
          </a:xfrm>
          <a:prstGeom prst="ellipse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D3EA85-94B0-4E6F-A307-26FBA941BBEE}"/>
              </a:ext>
            </a:extLst>
          </p:cNvPr>
          <p:cNvSpPr txBox="1"/>
          <p:nvPr/>
        </p:nvSpPr>
        <p:spPr>
          <a:xfrm>
            <a:off x="889000" y="5067300"/>
            <a:ext cx="50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05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6A42DD-2FBA-4D7B-9A8A-0E6B3B3D55F8}"/>
              </a:ext>
            </a:extLst>
          </p:cNvPr>
          <p:cNvSpPr txBox="1"/>
          <p:nvPr/>
        </p:nvSpPr>
        <p:spPr>
          <a:xfrm>
            <a:off x="1600200" y="49657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Reconcile</a:t>
            </a:r>
            <a:endParaRPr lang="ru-RU" sz="14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711CFA-A4CC-4BD0-A89E-DD0C1E7A9645}"/>
              </a:ext>
            </a:extLst>
          </p:cNvPr>
          <p:cNvSpPr txBox="1"/>
          <p:nvPr/>
        </p:nvSpPr>
        <p:spPr>
          <a:xfrm>
            <a:off x="1600200" y="5245100"/>
            <a:ext cx="3175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900">
                <a:solidFill>
                  <a:srgbClr val="E4E8EE"/>
                </a:solidFill>
                <a:latin typeface="Segoe UI" panose="020B0502040204020203" pitchFamily="34" charset="0"/>
              </a:rPr>
              <a:t>ReconcilerSvc ставит задачу в очередь и запускает Ansible playbook.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CC5F6788-D57F-41EB-9FDB-942844D23E9B}"/>
              </a:ext>
            </a:extLst>
          </p:cNvPr>
          <p:cNvSpPr/>
          <p:nvPr/>
        </p:nvSpPr>
        <p:spPr>
          <a:xfrm>
            <a:off x="5791200" y="2057400"/>
            <a:ext cx="5461000" cy="368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1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268E90A5-F852-4133-813D-2742BA2BA7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399" y="2235200"/>
            <a:ext cx="3910601" cy="32004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A181543-C711-464B-9945-3CA9E04E3063}"/>
              </a:ext>
            </a:extLst>
          </p:cNvPr>
          <p:cNvSpPr txBox="1"/>
          <p:nvPr/>
        </p:nvSpPr>
        <p:spPr>
          <a:xfrm>
            <a:off x="6019800" y="5422900"/>
            <a:ext cx="4953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900">
                <a:solidFill>
                  <a:srgbClr val="5B5E63"/>
                </a:solidFill>
                <a:latin typeface="Segoe UI" panose="020B0502040204020203" pitchFamily="34" charset="0"/>
              </a:rPr>
              <a:t>Реальная динамическая диаграмма сценария обнаружения drift из материалов проекта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E1720C-88E7-40AD-91C2-661DA0E5C2C9}"/>
              </a:ext>
            </a:extLst>
          </p:cNvPr>
          <p:cNvSpPr txBox="1"/>
          <p:nvPr/>
        </p:nvSpPr>
        <p:spPr>
          <a:xfrm>
            <a:off x="736600" y="6019800"/>
            <a:ext cx="10414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 b="1">
                <a:solidFill>
                  <a:srgbClr val="2D2D30"/>
                </a:solidFill>
                <a:latin typeface="Segoe UI Semibold" panose="020B0702040204020203" pitchFamily="34" charset="0"/>
              </a:rPr>
              <a:t>Ключевая гарантия MVP: отсутствие данных не является основанием для автоматического восстановления.</a:t>
            </a:r>
          </a:p>
        </p:txBody>
      </p:sp>
    </p:spTree>
    <p:extLst>
      <p:ext uri="{BB962C8B-B14F-4D97-AF65-F5344CB8AC3E}">
        <p14:creationId xmlns:p14="http://schemas.microsoft.com/office/powerpoint/2010/main" val="2267478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E7760E-DC05-433F-BC05-7F51870F7E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0F2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1AA580-31BC-4056-B724-B0317AA4A4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6000"/>
            </a:srgbClr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C5287-01EF-4B9B-B6A3-B966E3E24621}"/>
              </a:ext>
            </a:extLst>
          </p:cNvPr>
          <p:cNvSpPr txBox="1"/>
          <p:nvPr/>
        </p:nvSpPr>
        <p:spPr>
          <a:xfrm>
            <a:off x="584200" y="444500"/>
            <a:ext cx="4318000" cy="18466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 b="1">
                <a:solidFill>
                  <a:srgbClr val="42454B"/>
                </a:solidFill>
                <a:latin typeface="Segoe UI Semibold" panose="020B0702040204020203" pitchFamily="34" charset="0"/>
              </a:rPr>
              <a:t>ТЕСТИРОВАНИЕ И МЕТРИКИ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35F5D-D7E5-484E-9A52-4BD7512A054C}"/>
              </a:ext>
            </a:extLst>
          </p:cNvPr>
          <p:cNvSpPr txBox="1"/>
          <p:nvPr/>
        </p:nvSpPr>
        <p:spPr>
          <a:xfrm>
            <a:off x="584200" y="787400"/>
            <a:ext cx="7112000" cy="95410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3100" b="1">
                <a:solidFill>
                  <a:srgbClr val="2D2D30"/>
                </a:solidFill>
                <a:latin typeface="Segoe UI Semibold" panose="020B0702040204020203" pitchFamily="34" charset="0"/>
              </a:rPr>
              <a:t>Проверка качества разработанного решения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F9BC8-2885-48AA-8CAB-B369C2851F14}"/>
              </a:ext>
            </a:extLst>
          </p:cNvPr>
          <p:cNvSpPr txBox="1"/>
          <p:nvPr/>
        </p:nvSpPr>
        <p:spPr>
          <a:xfrm>
            <a:off x="8001000" y="698500"/>
            <a:ext cx="3429000" cy="69249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>
                <a:solidFill>
                  <a:srgbClr val="55585F"/>
                </a:solidFill>
                <a:latin typeface="Segoe UI" panose="020B0502040204020203" pitchFamily="34" charset="0"/>
              </a:rPr>
              <a:t>Использованы </a:t>
            </a:r>
            <a:r>
              <a:rPr lang="en-US" sz="1500">
                <a:solidFill>
                  <a:srgbClr val="55585F"/>
                </a:solidFill>
                <a:latin typeface="Segoe UI" panose="020B0502040204020203" pitchFamily="34" charset="0"/>
              </a:rPr>
              <a:t>unit/component tests </a:t>
            </a:r>
            <a:r>
              <a:rPr lang="ru-RU" sz="1500">
                <a:solidFill>
                  <a:srgbClr val="55585F"/>
                </a:solidFill>
                <a:latin typeface="Segoe UI" panose="020B0502040204020203" pitchFamily="34" charset="0"/>
              </a:rPr>
              <a:t>и </a:t>
            </a:r>
            <a:r>
              <a:rPr lang="en-US" sz="1500">
                <a:solidFill>
                  <a:srgbClr val="55585F"/>
                </a:solidFill>
                <a:latin typeface="Segoe UI" panose="020B0502040204020203" pitchFamily="34" charset="0"/>
              </a:rPr>
              <a:t>E2E benchmark harness </a:t>
            </a:r>
            <a:r>
              <a:rPr lang="ru-RU" sz="1500">
                <a:solidFill>
                  <a:srgbClr val="55585F"/>
                </a:solidFill>
                <a:latin typeface="Segoe UI" panose="020B0502040204020203" pitchFamily="34" charset="0"/>
              </a:rPr>
              <a:t>поверх локального </a:t>
            </a:r>
            <a:r>
              <a:rPr lang="en-US" sz="1500">
                <a:solidFill>
                  <a:srgbClr val="55585F"/>
                </a:solidFill>
                <a:latin typeface="Segoe UI" panose="020B0502040204020203" pitchFamily="34" charset="0"/>
              </a:rPr>
              <a:t>compose-</a:t>
            </a:r>
            <a:r>
              <a:rPr lang="ru-RU" sz="1500">
                <a:solidFill>
                  <a:srgbClr val="55585F"/>
                </a:solidFill>
                <a:latin typeface="Segoe UI" panose="020B0502040204020203" pitchFamily="34" charset="0"/>
              </a:rPr>
              <a:t>стенда.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20A18-048F-483E-9E6E-0A062E8C29F8}"/>
              </a:ext>
            </a:extLst>
          </p:cNvPr>
          <p:cNvSpPr txBox="1"/>
          <p:nvPr/>
        </p:nvSpPr>
        <p:spPr>
          <a:xfrm>
            <a:off x="11747500" y="6502400"/>
            <a:ext cx="254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900">
                <a:solidFill>
                  <a:srgbClr val="52565C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33B4639-96ED-47E7-BB5A-F4CA6A68DADC}"/>
              </a:ext>
            </a:extLst>
          </p:cNvPr>
          <p:cNvSpPr/>
          <p:nvPr/>
        </p:nvSpPr>
        <p:spPr>
          <a:xfrm>
            <a:off x="635000" y="2057400"/>
            <a:ext cx="4635500" cy="3048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1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470B0-3C8C-4EAE-9A37-211FAD8974C9}"/>
              </a:ext>
            </a:extLst>
          </p:cNvPr>
          <p:cNvSpPr txBox="1"/>
          <p:nvPr/>
        </p:nvSpPr>
        <p:spPr>
          <a:xfrm>
            <a:off x="952500" y="2324100"/>
            <a:ext cx="3175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500" b="1">
                <a:solidFill>
                  <a:srgbClr val="2D2D30"/>
                </a:solidFill>
                <a:latin typeface="Segoe UI Semibold" panose="020B0702040204020203" pitchFamily="34" charset="0"/>
              </a:rPr>
              <a:t>Detection scalability, p50</a:t>
            </a:r>
            <a:endParaRPr lang="ru-RU" sz="1500" b="1">
              <a:solidFill>
                <a:srgbClr val="2D2D3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957F5-9538-4888-A4B3-4E2D63F34D1A}"/>
              </a:ext>
            </a:extLst>
          </p:cNvPr>
          <p:cNvSpPr txBox="1"/>
          <p:nvPr/>
        </p:nvSpPr>
        <p:spPr>
          <a:xfrm>
            <a:off x="952500" y="28702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53575E"/>
                </a:solidFill>
                <a:latin typeface="Segoe UI" panose="020B0502040204020203" pitchFamily="34" charset="0"/>
              </a:rPr>
              <a:t>1 hosts</a:t>
            </a:r>
            <a:endParaRPr lang="ru-RU" sz="9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E37E722-DC5A-4779-B3A8-CB20102260BF}"/>
              </a:ext>
            </a:extLst>
          </p:cNvPr>
          <p:cNvSpPr/>
          <p:nvPr/>
        </p:nvSpPr>
        <p:spPr>
          <a:xfrm>
            <a:off x="1905000" y="2844800"/>
            <a:ext cx="50800" cy="203200"/>
          </a:xfrm>
          <a:prstGeom prst="roundRect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6EDB2E-08E0-4154-B7C4-F1CFE4D89C84}"/>
              </a:ext>
            </a:extLst>
          </p:cNvPr>
          <p:cNvSpPr txBox="1"/>
          <p:nvPr/>
        </p:nvSpPr>
        <p:spPr>
          <a:xfrm>
            <a:off x="2082800" y="2857500"/>
            <a:ext cx="6985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53575E"/>
                </a:solidFill>
                <a:latin typeface="Segoe UI" panose="020B0502040204020203" pitchFamily="34" charset="0"/>
              </a:rPr>
              <a:t>0 ms</a:t>
            </a:r>
            <a:endParaRPr lang="ru-RU" sz="9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AA0D88-8E3C-4884-8485-38382A370032}"/>
              </a:ext>
            </a:extLst>
          </p:cNvPr>
          <p:cNvSpPr txBox="1"/>
          <p:nvPr/>
        </p:nvSpPr>
        <p:spPr>
          <a:xfrm>
            <a:off x="952500" y="33528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53575E"/>
                </a:solidFill>
                <a:latin typeface="Segoe UI" panose="020B0502040204020203" pitchFamily="34" charset="0"/>
              </a:rPr>
              <a:t>10 hosts</a:t>
            </a:r>
            <a:endParaRPr lang="ru-RU" sz="9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325D597-28CE-48C5-A44D-6932574AFE48}"/>
              </a:ext>
            </a:extLst>
          </p:cNvPr>
          <p:cNvSpPr/>
          <p:nvPr/>
        </p:nvSpPr>
        <p:spPr>
          <a:xfrm>
            <a:off x="1905000" y="3327400"/>
            <a:ext cx="127000" cy="203200"/>
          </a:xfrm>
          <a:prstGeom prst="roundRect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45927B-0933-4B06-B96B-13B498A91BE6}"/>
              </a:ext>
            </a:extLst>
          </p:cNvPr>
          <p:cNvSpPr txBox="1"/>
          <p:nvPr/>
        </p:nvSpPr>
        <p:spPr>
          <a:xfrm>
            <a:off x="2159000" y="3340100"/>
            <a:ext cx="6985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53575E"/>
                </a:solidFill>
                <a:latin typeface="Segoe UI" panose="020B0502040204020203" pitchFamily="34" charset="0"/>
              </a:rPr>
              <a:t>1 ms</a:t>
            </a:r>
            <a:endParaRPr lang="ru-RU" sz="9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D3E940-64F1-400F-973A-80A37DA02987}"/>
              </a:ext>
            </a:extLst>
          </p:cNvPr>
          <p:cNvSpPr txBox="1"/>
          <p:nvPr/>
        </p:nvSpPr>
        <p:spPr>
          <a:xfrm>
            <a:off x="952500" y="38354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53575E"/>
                </a:solidFill>
                <a:latin typeface="Segoe UI" panose="020B0502040204020203" pitchFamily="34" charset="0"/>
              </a:rPr>
              <a:t>100 hosts</a:t>
            </a:r>
            <a:endParaRPr lang="ru-RU" sz="9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1C382A1-484B-4557-8195-758E31F6FBFF}"/>
              </a:ext>
            </a:extLst>
          </p:cNvPr>
          <p:cNvSpPr/>
          <p:nvPr/>
        </p:nvSpPr>
        <p:spPr>
          <a:xfrm>
            <a:off x="1905000" y="3810000"/>
            <a:ext cx="787400" cy="203200"/>
          </a:xfrm>
          <a:prstGeom prst="roundRect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97338B-8B5B-4ECB-A976-BFE6681AE9D1}"/>
              </a:ext>
            </a:extLst>
          </p:cNvPr>
          <p:cNvSpPr txBox="1"/>
          <p:nvPr/>
        </p:nvSpPr>
        <p:spPr>
          <a:xfrm>
            <a:off x="2819400" y="3822700"/>
            <a:ext cx="6985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53575E"/>
                </a:solidFill>
                <a:latin typeface="Segoe UI" panose="020B0502040204020203" pitchFamily="34" charset="0"/>
              </a:rPr>
              <a:t>6 ms</a:t>
            </a:r>
            <a:endParaRPr lang="ru-RU" sz="9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E8EE42-6EDD-4CDF-9933-5A99294D99AE}"/>
              </a:ext>
            </a:extLst>
          </p:cNvPr>
          <p:cNvSpPr txBox="1"/>
          <p:nvPr/>
        </p:nvSpPr>
        <p:spPr>
          <a:xfrm>
            <a:off x="952500" y="43180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53575E"/>
                </a:solidFill>
                <a:latin typeface="Segoe UI" panose="020B0502040204020203" pitchFamily="34" charset="0"/>
              </a:rPr>
              <a:t>500 hosts</a:t>
            </a:r>
            <a:endParaRPr lang="ru-RU" sz="9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E55D9D05-D96E-4E73-978C-74E67EF3CD39}"/>
              </a:ext>
            </a:extLst>
          </p:cNvPr>
          <p:cNvSpPr/>
          <p:nvPr/>
        </p:nvSpPr>
        <p:spPr>
          <a:xfrm>
            <a:off x="1905000" y="4292600"/>
            <a:ext cx="2603500" cy="203200"/>
          </a:xfrm>
          <a:prstGeom prst="roundRect">
            <a:avLst/>
          </a:prstGeom>
          <a:solidFill>
            <a:srgbClr val="0068D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F3E5F3-399A-4123-8017-1E207A84B9B2}"/>
              </a:ext>
            </a:extLst>
          </p:cNvPr>
          <p:cNvSpPr txBox="1"/>
          <p:nvPr/>
        </p:nvSpPr>
        <p:spPr>
          <a:xfrm>
            <a:off x="4635500" y="4305300"/>
            <a:ext cx="6985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900">
                <a:solidFill>
                  <a:srgbClr val="53575E"/>
                </a:solidFill>
                <a:latin typeface="Segoe UI" panose="020B0502040204020203" pitchFamily="34" charset="0"/>
              </a:rPr>
              <a:t>20 ms</a:t>
            </a:r>
            <a:endParaRPr lang="ru-RU" sz="9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1F6035-E27B-43F7-8BE3-34512A07D36B}"/>
              </a:ext>
            </a:extLst>
          </p:cNvPr>
          <p:cNvSpPr txBox="1"/>
          <p:nvPr/>
        </p:nvSpPr>
        <p:spPr>
          <a:xfrm>
            <a:off x="952500" y="4660900"/>
            <a:ext cx="36830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000">
                <a:solidFill>
                  <a:srgbClr val="53575E"/>
                </a:solidFill>
                <a:latin typeface="Segoe UI" panose="020B0502040204020203" pitchFamily="34" charset="0"/>
              </a:rPr>
              <a:t>Рост цикла в steady-state связан в основном с fetch-стадиями Inventory и Parser.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B583800C-EF23-4130-9AB8-C206ADA17165}"/>
              </a:ext>
            </a:extLst>
          </p:cNvPr>
          <p:cNvSpPr/>
          <p:nvPr/>
        </p:nvSpPr>
        <p:spPr>
          <a:xfrm>
            <a:off x="5778500" y="2057400"/>
            <a:ext cx="1651000" cy="1168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035139-EDBB-42D0-94BE-AA0B920942E0}"/>
              </a:ext>
            </a:extLst>
          </p:cNvPr>
          <p:cNvSpPr txBox="1"/>
          <p:nvPr/>
        </p:nvSpPr>
        <p:spPr>
          <a:xfrm>
            <a:off x="5981700" y="2260600"/>
            <a:ext cx="1244600" cy="33855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2200" b="1">
                <a:solidFill>
                  <a:srgbClr val="0060BE"/>
                </a:solidFill>
                <a:latin typeface="Segoe UI Semibold" panose="020B0702040204020203" pitchFamily="34" charset="0"/>
              </a:rPr>
              <a:t>14.3 s</a:t>
            </a:r>
            <a:endParaRPr lang="ru-RU" sz="2200" b="1">
              <a:solidFill>
                <a:srgbClr val="0060B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CF46B5-44B4-480F-8073-C3DFC25E9210}"/>
              </a:ext>
            </a:extLst>
          </p:cNvPr>
          <p:cNvSpPr txBox="1"/>
          <p:nvPr/>
        </p:nvSpPr>
        <p:spPr>
          <a:xfrm>
            <a:off x="5981700" y="2705100"/>
            <a:ext cx="12446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1000">
                <a:solidFill>
                  <a:srgbClr val="53575E"/>
                </a:solidFill>
                <a:latin typeface="Segoe UI" panose="020B0502040204020203" pitchFamily="34" charset="0"/>
              </a:rPr>
              <a:t>сходимость после drift node_exporter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06DD8DB-9038-4EA2-AC57-24C4CAE25657}"/>
              </a:ext>
            </a:extLst>
          </p:cNvPr>
          <p:cNvSpPr/>
          <p:nvPr/>
        </p:nvSpPr>
        <p:spPr>
          <a:xfrm>
            <a:off x="7747000" y="2057400"/>
            <a:ext cx="2032000" cy="1168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6325E4-66E6-4EF3-A3B0-7ED21D17EBC8}"/>
              </a:ext>
            </a:extLst>
          </p:cNvPr>
          <p:cNvSpPr txBox="1"/>
          <p:nvPr/>
        </p:nvSpPr>
        <p:spPr>
          <a:xfrm>
            <a:off x="7950200" y="2260600"/>
            <a:ext cx="1625600" cy="33855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2200" b="1">
                <a:solidFill>
                  <a:srgbClr val="0060BE"/>
                </a:solidFill>
                <a:latin typeface="Segoe UI Semibold" panose="020B0702040204020203" pitchFamily="34" charset="0"/>
              </a:rPr>
              <a:t>102 / 180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74B69E-AA51-4E64-8E3A-B3F70E2C793A}"/>
              </a:ext>
            </a:extLst>
          </p:cNvPr>
          <p:cNvSpPr txBox="1"/>
          <p:nvPr/>
        </p:nvSpPr>
        <p:spPr>
          <a:xfrm>
            <a:off x="7950200" y="27051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53575E"/>
                </a:solidFill>
                <a:latin typeface="Segoe UI" panose="020B0502040204020203" pitchFamily="34" charset="0"/>
              </a:rPr>
              <a:t>accepted </a:t>
            </a:r>
            <a:r>
              <a:rPr lang="ru-RU" sz="1000">
                <a:solidFill>
                  <a:srgbClr val="53575E"/>
                </a:solidFill>
                <a:latin typeface="Segoe UI" panose="020B0502040204020203" pitchFamily="34" charset="0"/>
              </a:rPr>
              <a:t>при </a:t>
            </a:r>
            <a:r>
              <a:rPr lang="en-US" sz="1000">
                <a:solidFill>
                  <a:srgbClr val="53575E"/>
                </a:solidFill>
                <a:latin typeface="Segoe UI" panose="020B0502040204020203" pitchFamily="34" charset="0"/>
              </a:rPr>
              <a:t>saturation probe</a:t>
            </a:r>
            <a:endParaRPr lang="ru-RU" sz="10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6DE50D7A-5AD3-42A0-9D9D-3996611A39B5}"/>
              </a:ext>
            </a:extLst>
          </p:cNvPr>
          <p:cNvSpPr/>
          <p:nvPr/>
        </p:nvSpPr>
        <p:spPr>
          <a:xfrm>
            <a:off x="10096500" y="2057400"/>
            <a:ext cx="1397000" cy="1168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C31314-7C49-435D-8EDD-8992D1D2B783}"/>
              </a:ext>
            </a:extLst>
          </p:cNvPr>
          <p:cNvSpPr txBox="1"/>
          <p:nvPr/>
        </p:nvSpPr>
        <p:spPr>
          <a:xfrm>
            <a:off x="10299700" y="2260600"/>
            <a:ext cx="990600" cy="33855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2200" b="1">
                <a:solidFill>
                  <a:srgbClr val="0060BE"/>
                </a:solidFill>
                <a:latin typeface="Segoe UI Semibold" panose="020B0702040204020203" pitchFamily="34" charset="0"/>
              </a:rPr>
              <a:t>1.0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1B409C-24C5-4773-9FEB-3348BB0F7C0A}"/>
              </a:ext>
            </a:extLst>
          </p:cNvPr>
          <p:cNvSpPr txBox="1"/>
          <p:nvPr/>
        </p:nvSpPr>
        <p:spPr>
          <a:xfrm>
            <a:off x="10299700" y="2705100"/>
            <a:ext cx="9906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53575E"/>
                </a:solidFill>
                <a:latin typeface="Segoe UI" panose="020B0502040204020203" pitchFamily="34" charset="0"/>
              </a:rPr>
              <a:t>cooldown suppression ratio</a:t>
            </a:r>
            <a:endParaRPr lang="ru-RU" sz="10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76DDE279-1FEC-4C9C-8B76-88F9FC47EB39}"/>
              </a:ext>
            </a:extLst>
          </p:cNvPr>
          <p:cNvSpPr/>
          <p:nvPr/>
        </p:nvSpPr>
        <p:spPr>
          <a:xfrm>
            <a:off x="5778500" y="3619500"/>
            <a:ext cx="2616200" cy="1803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DBFA2A-15F6-49DA-A96F-3B04CC58590B}"/>
              </a:ext>
            </a:extLst>
          </p:cNvPr>
          <p:cNvSpPr txBox="1"/>
          <p:nvPr/>
        </p:nvSpPr>
        <p:spPr>
          <a:xfrm>
            <a:off x="6057900" y="3898900"/>
            <a:ext cx="2057400" cy="58477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2B2B2E"/>
                </a:solidFill>
                <a:latin typeface="Segoe UI Semibold" panose="020B0702040204020203" pitchFamily="34" charset="0"/>
              </a:rPr>
              <a:t>Покрытие тестами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554BCA-2007-419C-8460-2DCE43AB2EEB}"/>
              </a:ext>
            </a:extLst>
          </p:cNvPr>
          <p:cNvSpPr txBox="1"/>
          <p:nvPr/>
        </p:nvSpPr>
        <p:spPr>
          <a:xfrm>
            <a:off x="6057900" y="4406900"/>
            <a:ext cx="2057400" cy="73866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Unit/component tests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по четырем сервисам.
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E2E harness: 5 benchmark-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сценариев.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34EFBF86-27A3-4039-AD96-099C71DEAAD3}"/>
              </a:ext>
            </a:extLst>
          </p:cNvPr>
          <p:cNvSpPr/>
          <p:nvPr/>
        </p:nvSpPr>
        <p:spPr>
          <a:xfrm>
            <a:off x="8699500" y="3619500"/>
            <a:ext cx="2794000" cy="1803400"/>
          </a:xfrm>
          <a:prstGeom prst="roundRect">
            <a:avLst/>
          </a:prstGeom>
          <a:solidFill>
            <a:srgbClr val="2F303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3F6509-5B1F-46B0-9019-2D7E99405966}"/>
              </a:ext>
            </a:extLst>
          </p:cNvPr>
          <p:cNvSpPr txBox="1"/>
          <p:nvPr/>
        </p:nvSpPr>
        <p:spPr>
          <a:xfrm>
            <a:off x="8978900" y="3898900"/>
            <a:ext cx="22352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Partial data</a:t>
            </a:r>
            <a:endParaRPr lang="ru-RU" sz="190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E0C488-B5EC-4DB6-AB52-28C6432E9D08}"/>
              </a:ext>
            </a:extLst>
          </p:cNvPr>
          <p:cNvSpPr txBox="1"/>
          <p:nvPr/>
        </p:nvSpPr>
        <p:spPr>
          <a:xfrm>
            <a:off x="8978900" y="4406900"/>
            <a:ext cx="22352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20 host, 6 </a:t>
            </a:r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недоступных </a:t>
            </a:r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FQDN.
cycle.partial=true, failedHosts=6, reconcile </a:t>
            </a:r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для </a:t>
            </a:r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missing hosts=0.</a:t>
            </a:r>
            <a:endParaRPr lang="ru-RU" sz="1200">
              <a:solidFill>
                <a:srgbClr val="ECEFF3"/>
              </a:solidFill>
              <a:latin typeface="Segoe UI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8FBB82-DE75-44D9-92B4-0689D750404F}"/>
              </a:ext>
            </a:extLst>
          </p:cNvPr>
          <p:cNvSpPr txBox="1"/>
          <p:nvPr/>
        </p:nvSpPr>
        <p:spPr>
          <a:xfrm>
            <a:off x="736600" y="5867400"/>
            <a:ext cx="105410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 b="1">
                <a:solidFill>
                  <a:srgbClr val="2D2D30"/>
                </a:solidFill>
                <a:latin typeface="Segoe UI Semibold" panose="020B0702040204020203" pitchFamily="34" charset="0"/>
              </a:rPr>
              <a:t>Вывод: MVP подтверждает работоспособность control loop и явно показывает границы производительности и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4032218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C8638B2-1D1C-4A7B-AC11-B88B147FE6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0F2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A22F97E-35EA-4F88-84E0-5DFDAFC1A0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6000"/>
            </a:srgbClr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D19F876-50EB-4D04-B1AA-AC55035886DA}"/>
              </a:ext>
            </a:extLst>
          </p:cNvPr>
          <p:cNvSpPr/>
          <p:nvPr/>
        </p:nvSpPr>
        <p:spPr>
          <a:xfrm>
            <a:off x="381000" y="406400"/>
            <a:ext cx="11430000" cy="2006600"/>
          </a:xfrm>
          <a:prstGeom prst="roundRect">
            <a:avLst/>
          </a:prstGeom>
          <a:solidFill>
            <a:srgbClr val="002760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D2420-EC76-479C-84D4-DDBB2B41157D}"/>
              </a:ext>
            </a:extLst>
          </p:cNvPr>
          <p:cNvSpPr txBox="1"/>
          <p:nvPr/>
        </p:nvSpPr>
        <p:spPr>
          <a:xfrm>
            <a:off x="762000" y="762000"/>
            <a:ext cx="2794000" cy="20005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300" b="1">
                <a:solidFill>
                  <a:srgbClr val="FFFFFF"/>
                </a:solidFill>
                <a:latin typeface="Segoe UI Semibold" panose="020B0702040204020203" pitchFamily="34" charset="0"/>
              </a:rPr>
              <a:t>РЕЗУЛЬТАТЫ РАБОТЫ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024A1-314E-48E5-88C5-EE83F7FC3E98}"/>
              </a:ext>
            </a:extLst>
          </p:cNvPr>
          <p:cNvSpPr txBox="1"/>
          <p:nvPr/>
        </p:nvSpPr>
        <p:spPr>
          <a:xfrm>
            <a:off x="762000" y="1143000"/>
            <a:ext cx="78740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3000" b="1">
                <a:solidFill>
                  <a:srgbClr val="FFFFFF"/>
                </a:solidFill>
                <a:latin typeface="Segoe UI Semibold" panose="020B0702040204020203" pitchFamily="34" charset="0"/>
              </a:rPr>
              <a:t>Результаты разработки </a:t>
            </a:r>
            <a:r>
              <a:rPr lang="en-US" sz="3000" b="1">
                <a:solidFill>
                  <a:srgbClr val="FFFFFF"/>
                </a:solidFill>
                <a:latin typeface="Segoe UI Semibold" panose="020B0702040204020203" pitchFamily="34" charset="0"/>
              </a:rPr>
              <a:t>MVP</a:t>
            </a:r>
            <a:endParaRPr lang="ru-RU" sz="30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3668FF-CFA6-4727-B24C-68B25E3C0628}"/>
              </a:ext>
            </a:extLst>
          </p:cNvPr>
          <p:cNvSpPr txBox="1"/>
          <p:nvPr/>
        </p:nvSpPr>
        <p:spPr>
          <a:xfrm>
            <a:off x="762000" y="1778000"/>
            <a:ext cx="8255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400">
                <a:solidFill>
                  <a:srgbClr val="E2ECFF"/>
                </a:solidFill>
                <a:latin typeface="Segoe UI" panose="020B0502040204020203" pitchFamily="34" charset="0"/>
              </a:rPr>
              <a:t>Архитектурное описание, inventory, drift detection и reconcile связаны в единый программный цикл.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2F131B6-0BFB-42D2-A388-593EC616DCD4}"/>
              </a:ext>
            </a:extLst>
          </p:cNvPr>
          <p:cNvSpPr/>
          <p:nvPr/>
        </p:nvSpPr>
        <p:spPr>
          <a:xfrm>
            <a:off x="698500" y="2857500"/>
            <a:ext cx="2413000" cy="1168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6FA9FF-052C-4445-8770-F0A48E6105BF}"/>
              </a:ext>
            </a:extLst>
          </p:cNvPr>
          <p:cNvSpPr txBox="1"/>
          <p:nvPr/>
        </p:nvSpPr>
        <p:spPr>
          <a:xfrm>
            <a:off x="977900" y="3136900"/>
            <a:ext cx="18542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>
                <a:solidFill>
                  <a:srgbClr val="2B2B2E"/>
                </a:solidFill>
                <a:latin typeface="Segoe UI Semibold" panose="020B0702040204020203" pitchFamily="34" charset="0"/>
              </a:rPr>
              <a:t>ParserSvc</a:t>
            </a:r>
            <a:endParaRPr lang="ru-RU" sz="1900">
              <a:solidFill>
                <a:srgbClr val="2B2B2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82F028-451C-4C51-8C7D-F1E12FE4DD1F}"/>
              </a:ext>
            </a:extLst>
          </p:cNvPr>
          <p:cNvSpPr txBox="1"/>
          <p:nvPr/>
        </p:nvSpPr>
        <p:spPr>
          <a:xfrm>
            <a:off x="977900" y="36449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desired state
Structurizr JSON</a:t>
            </a:r>
            <a:endParaRPr lang="ru-RU" sz="12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9BB6F15-59C1-48AF-A112-0397D23FC203}"/>
              </a:ext>
            </a:extLst>
          </p:cNvPr>
          <p:cNvSpPr/>
          <p:nvPr/>
        </p:nvSpPr>
        <p:spPr>
          <a:xfrm>
            <a:off x="3403600" y="2857500"/>
            <a:ext cx="2413000" cy="1168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8855FD-E491-4114-9EEB-AAA108751D8F}"/>
              </a:ext>
            </a:extLst>
          </p:cNvPr>
          <p:cNvSpPr txBox="1"/>
          <p:nvPr/>
        </p:nvSpPr>
        <p:spPr>
          <a:xfrm>
            <a:off x="3683000" y="3136900"/>
            <a:ext cx="18542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>
                <a:solidFill>
                  <a:srgbClr val="2B2B2E"/>
                </a:solidFill>
                <a:latin typeface="Segoe UI Semibold" panose="020B0702040204020203" pitchFamily="34" charset="0"/>
              </a:rPr>
              <a:t>InventorySvc</a:t>
            </a:r>
            <a:endParaRPr lang="ru-RU" sz="1900">
              <a:solidFill>
                <a:srgbClr val="2B2B2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390142-F47F-4201-BBA0-772633D20438}"/>
              </a:ext>
            </a:extLst>
          </p:cNvPr>
          <p:cNvSpPr txBox="1"/>
          <p:nvPr/>
        </p:nvSpPr>
        <p:spPr>
          <a:xfrm>
            <a:off x="3683000" y="36449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actual state
partial metadata</a:t>
            </a:r>
            <a:endParaRPr lang="ru-RU" sz="12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DC9881B-74C6-430F-88D2-0D21074F93DF}"/>
              </a:ext>
            </a:extLst>
          </p:cNvPr>
          <p:cNvSpPr/>
          <p:nvPr/>
        </p:nvSpPr>
        <p:spPr>
          <a:xfrm>
            <a:off x="698500" y="4343400"/>
            <a:ext cx="2413000" cy="1168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EB9EC-04F3-4E36-88CD-08CE6F6159B9}"/>
              </a:ext>
            </a:extLst>
          </p:cNvPr>
          <p:cNvSpPr txBox="1"/>
          <p:nvPr/>
        </p:nvSpPr>
        <p:spPr>
          <a:xfrm>
            <a:off x="977900" y="4622800"/>
            <a:ext cx="18542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>
                <a:solidFill>
                  <a:srgbClr val="2B2B2E"/>
                </a:solidFill>
                <a:latin typeface="Segoe UI Semibold" panose="020B0702040204020203" pitchFamily="34" charset="0"/>
              </a:rPr>
              <a:t>DriftDetectorSvc</a:t>
            </a:r>
            <a:endParaRPr lang="ru-RU" sz="1900">
              <a:solidFill>
                <a:srgbClr val="2B2B2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C66CAC-2891-4BB1-97E4-6DEBA9CA8298}"/>
              </a:ext>
            </a:extLst>
          </p:cNvPr>
          <p:cNvSpPr txBox="1"/>
          <p:nvPr/>
        </p:nvSpPr>
        <p:spPr>
          <a:xfrm>
            <a:off x="977900" y="51308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detectors
cooldown</a:t>
            </a:r>
            <a:endParaRPr lang="ru-RU" sz="12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591B80B9-78EC-4993-98E8-B5AC5BD8C08D}"/>
              </a:ext>
            </a:extLst>
          </p:cNvPr>
          <p:cNvSpPr/>
          <p:nvPr/>
        </p:nvSpPr>
        <p:spPr>
          <a:xfrm>
            <a:off x="3403600" y="4343400"/>
            <a:ext cx="2413000" cy="1168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8B00FB-23CD-40A1-96DA-D44EBFF87BC6}"/>
              </a:ext>
            </a:extLst>
          </p:cNvPr>
          <p:cNvSpPr txBox="1"/>
          <p:nvPr/>
        </p:nvSpPr>
        <p:spPr>
          <a:xfrm>
            <a:off x="3683000" y="4622800"/>
            <a:ext cx="18542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900">
                <a:solidFill>
                  <a:srgbClr val="2B2B2E"/>
                </a:solidFill>
                <a:latin typeface="Segoe UI Semibold" panose="020B0702040204020203" pitchFamily="34" charset="0"/>
              </a:rPr>
              <a:t>ReconcilerSvc</a:t>
            </a:r>
            <a:endParaRPr lang="ru-RU" sz="1900">
              <a:solidFill>
                <a:srgbClr val="2B2B2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EC2748-777E-4C9E-AA7E-8CF710536F93}"/>
              </a:ext>
            </a:extLst>
          </p:cNvPr>
          <p:cNvSpPr txBox="1"/>
          <p:nvPr/>
        </p:nvSpPr>
        <p:spPr>
          <a:xfrm>
            <a:off x="3683000" y="51308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operators
Ansible Runner</a:t>
            </a:r>
            <a:endParaRPr lang="ru-RU" sz="12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F88DB05-6AA6-47F5-AD47-8DE65221ABAC}"/>
              </a:ext>
            </a:extLst>
          </p:cNvPr>
          <p:cNvSpPr/>
          <p:nvPr/>
        </p:nvSpPr>
        <p:spPr>
          <a:xfrm>
            <a:off x="6540500" y="2857500"/>
            <a:ext cx="2222500" cy="2222500"/>
          </a:xfrm>
          <a:prstGeom prst="rect">
            <a:avLst/>
          </a:prstGeom>
          <a:solidFill>
            <a:srgbClr val="FFFFFF"/>
          </a:solidFill>
          <a:ln w="13970">
            <a:solidFill>
              <a:srgbClr val="DDE1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F6477BB-9D6E-40A6-BD1B-447BA4DFBC3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0" y="3048000"/>
            <a:ext cx="1841500" cy="18415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C4BD12F-30D5-43D1-B41D-0217DAB4C23B}"/>
              </a:ext>
            </a:extLst>
          </p:cNvPr>
          <p:cNvSpPr txBox="1"/>
          <p:nvPr/>
        </p:nvSpPr>
        <p:spPr>
          <a:xfrm>
            <a:off x="6540500" y="5143500"/>
            <a:ext cx="2222500" cy="1692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2D2D30"/>
                </a:solidFill>
                <a:latin typeface="Segoe UI Semibold" panose="020B0702040204020203" pitchFamily="34" charset="0"/>
              </a:rPr>
              <a:t>QR </a:t>
            </a:r>
            <a:r>
              <a:rPr lang="ru-RU" sz="1100" b="1">
                <a:solidFill>
                  <a:srgbClr val="2D2D30"/>
                </a:solidFill>
                <a:latin typeface="Segoe UI Semibold" panose="020B0702040204020203" pitchFamily="34" charset="0"/>
              </a:rPr>
              <a:t>на </a:t>
            </a:r>
            <a:r>
              <a:rPr lang="en-US" sz="1100" b="1">
                <a:solidFill>
                  <a:srgbClr val="2D2D30"/>
                </a:solidFill>
                <a:latin typeface="Segoe UI Semibold" panose="020B0702040204020203" pitchFamily="34" charset="0"/>
              </a:rPr>
              <a:t>GitHub</a:t>
            </a:r>
            <a:endParaRPr lang="ru-RU" sz="1100" b="1">
              <a:solidFill>
                <a:srgbClr val="2D2D3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D48AC7-077B-4FC0-ACEE-1DB1B5712F9E}"/>
              </a:ext>
            </a:extLst>
          </p:cNvPr>
          <p:cNvSpPr txBox="1"/>
          <p:nvPr/>
        </p:nvSpPr>
        <p:spPr>
          <a:xfrm>
            <a:off x="6032500" y="5524500"/>
            <a:ext cx="3238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53575E"/>
                </a:solidFill>
                <a:latin typeface="Segoe UI" panose="020B0502040204020203" pitchFamily="34" charset="0"/>
              </a:rPr>
              <a:t>github.com/BaronPipistron/Infrastructure-Management-Platform</a:t>
            </a:r>
            <a:endParaRPr lang="ru-RU" sz="900">
              <a:solidFill>
                <a:srgbClr val="53575E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65DA6746-070F-45F1-9976-F7AA51D9B521}"/>
              </a:ext>
            </a:extLst>
          </p:cNvPr>
          <p:cNvSpPr/>
          <p:nvPr/>
        </p:nvSpPr>
        <p:spPr>
          <a:xfrm>
            <a:off x="9398000" y="2857500"/>
            <a:ext cx="2159000" cy="2667000"/>
          </a:xfrm>
          <a:prstGeom prst="roundRect">
            <a:avLst/>
          </a:prstGeom>
          <a:solidFill>
            <a:srgbClr val="2F3033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B73EAB-F7C0-4225-9ED8-AE6B6D2F34FA}"/>
              </a:ext>
            </a:extLst>
          </p:cNvPr>
          <p:cNvSpPr txBox="1"/>
          <p:nvPr/>
        </p:nvSpPr>
        <p:spPr>
          <a:xfrm>
            <a:off x="9677400" y="3136900"/>
            <a:ext cx="1600200" cy="58477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FFFFFF"/>
                </a:solidFill>
                <a:latin typeface="Segoe UI Semibold" panose="020B0702040204020203" pitchFamily="34" charset="0"/>
              </a:rPr>
              <a:t>Практический результат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D44532-F1FA-4326-B8B6-DCC360600530}"/>
              </a:ext>
            </a:extLst>
          </p:cNvPr>
          <p:cNvSpPr txBox="1"/>
          <p:nvPr/>
        </p:nvSpPr>
        <p:spPr>
          <a:xfrm>
            <a:off x="9677400" y="3644900"/>
            <a:ext cx="1600200" cy="110799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• Docker Compose E2E
• node_exporter </a:t>
            </a:r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и </a:t>
            </a:r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cadvisor
• benchmark harness
• </a:t>
            </a:r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ограничения </a:t>
            </a:r>
            <a:r>
              <a:rPr lang="en-US" sz="1200">
                <a:solidFill>
                  <a:srgbClr val="ECEFF3"/>
                </a:solidFill>
                <a:latin typeface="Segoe UI" panose="020B0502040204020203" pitchFamily="34" charset="0"/>
              </a:rPr>
              <a:t>MVP </a:t>
            </a:r>
            <a:r>
              <a:rPr lang="ru-RU" sz="1200">
                <a:solidFill>
                  <a:srgbClr val="ECEFF3"/>
                </a:solidFill>
                <a:latin typeface="Segoe UI" panose="020B0502040204020203" pitchFamily="34" charset="0"/>
              </a:rPr>
              <a:t>зафиксированы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099A10-ADA1-41FA-800B-63FDD22C0EDA}"/>
              </a:ext>
            </a:extLst>
          </p:cNvPr>
          <p:cNvSpPr txBox="1"/>
          <p:nvPr/>
        </p:nvSpPr>
        <p:spPr>
          <a:xfrm>
            <a:off x="11747500" y="6502400"/>
            <a:ext cx="254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900">
                <a:solidFill>
                  <a:srgbClr val="52565C"/>
                </a:solidFill>
                <a:latin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59792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D5DC5A-85AC-42DC-B8CA-0BC2E9357D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F31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9270F3F-003E-4F37-A01B-E0EA286F0B1E}"/>
              </a:ext>
            </a:extLst>
          </p:cNvPr>
          <p:cNvSpPr/>
          <p:nvPr/>
        </p:nvSpPr>
        <p:spPr>
          <a:xfrm>
            <a:off x="381000" y="406400"/>
            <a:ext cx="11430000" cy="2794000"/>
          </a:xfrm>
          <a:prstGeom prst="roundRect">
            <a:avLst/>
          </a:prstGeom>
          <a:solidFill>
            <a:srgbClr val="3E87F6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35BDB-23DC-4A96-86FE-CA0603EA947C}"/>
              </a:ext>
            </a:extLst>
          </p:cNvPr>
          <p:cNvSpPr txBox="1"/>
          <p:nvPr/>
        </p:nvSpPr>
        <p:spPr>
          <a:xfrm>
            <a:off x="762000" y="762000"/>
            <a:ext cx="3175000" cy="20005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300" b="1">
                <a:solidFill>
                  <a:srgbClr val="FFFFFF"/>
                </a:solidFill>
                <a:latin typeface="Segoe UI Semibold" panose="020B0702040204020203" pitchFamily="34" charset="0"/>
              </a:rPr>
              <a:t>ИНЖЕНЕРНАЯ ЦЕННОСТЬ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E5D3F-B1B8-4B8B-A807-E3F72DC09B41}"/>
              </a:ext>
            </a:extLst>
          </p:cNvPr>
          <p:cNvSpPr txBox="1"/>
          <p:nvPr/>
        </p:nvSpPr>
        <p:spPr>
          <a:xfrm>
            <a:off x="762000" y="1193800"/>
            <a:ext cx="91440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Segoe UI Semibold" panose="020B0702040204020203" pitchFamily="34" charset="0"/>
              </a:rPr>
              <a:t>Architecture-as-Code </a:t>
            </a:r>
            <a:r>
              <a:rPr lang="ru-RU" sz="3000" b="1">
                <a:solidFill>
                  <a:srgbClr val="FFFFFF"/>
                </a:solidFill>
                <a:latin typeface="Segoe UI Semibold" panose="020B0702040204020203" pitchFamily="34" charset="0"/>
              </a:rPr>
              <a:t>в эксплуатационном контуре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CBED37-F7F4-4FEF-9588-7DAD261C9CA6}"/>
              </a:ext>
            </a:extLst>
          </p:cNvPr>
          <p:cNvSpPr txBox="1"/>
          <p:nvPr/>
        </p:nvSpPr>
        <p:spPr>
          <a:xfrm>
            <a:off x="762000" y="1981200"/>
            <a:ext cx="89535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>
                <a:solidFill>
                  <a:srgbClr val="EFF6FF"/>
                </a:solidFill>
                <a:latin typeface="Segoe UI" panose="020B0502040204020203" pitchFamily="34" charset="0"/>
              </a:rPr>
              <a:t>Результат ВКР — проверенная декомпозиция будущего </a:t>
            </a:r>
            <a:r>
              <a:rPr lang="en-US" sz="1500">
                <a:solidFill>
                  <a:srgbClr val="EFF6FF"/>
                </a:solidFill>
                <a:latin typeface="Segoe UI" panose="020B0502040204020203" pitchFamily="34" charset="0"/>
              </a:rPr>
              <a:t>internal control plane </a:t>
            </a:r>
            <a:r>
              <a:rPr lang="ru-RU" sz="1500">
                <a:solidFill>
                  <a:srgbClr val="EFF6FF"/>
                </a:solidFill>
                <a:latin typeface="Segoe UI" panose="020B0502040204020203" pitchFamily="34" charset="0"/>
              </a:rPr>
              <a:t>для </a:t>
            </a:r>
            <a:r>
              <a:rPr lang="en-US" sz="1500">
                <a:solidFill>
                  <a:srgbClr val="EFF6FF"/>
                </a:solidFill>
                <a:latin typeface="Segoe UI" panose="020B0502040204020203" pitchFamily="34" charset="0"/>
              </a:rPr>
              <a:t>host-level workload.</a:t>
            </a:r>
            <a:endParaRPr lang="ru-RU" sz="1500">
              <a:solidFill>
                <a:srgbClr val="EFF6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A077BCD-1C10-41AB-8CCF-26169E4F514B}"/>
              </a:ext>
            </a:extLst>
          </p:cNvPr>
          <p:cNvSpPr/>
          <p:nvPr/>
        </p:nvSpPr>
        <p:spPr>
          <a:xfrm>
            <a:off x="736600" y="3657600"/>
            <a:ext cx="3175000" cy="2057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EC639-B9D3-4C12-8DD7-424B802FC4BB}"/>
              </a:ext>
            </a:extLst>
          </p:cNvPr>
          <p:cNvSpPr txBox="1"/>
          <p:nvPr/>
        </p:nvSpPr>
        <p:spPr>
          <a:xfrm>
            <a:off x="1016000" y="3937000"/>
            <a:ext cx="2616200" cy="58477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2B2B2E"/>
                </a:solidFill>
                <a:latin typeface="Segoe UI Semibold" panose="020B0702040204020203" pitchFamily="34" charset="0"/>
              </a:rPr>
              <a:t>Ценность для команды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FE6F9-F72B-464C-B036-1F4768D44809}"/>
              </a:ext>
            </a:extLst>
          </p:cNvPr>
          <p:cNvSpPr txBox="1"/>
          <p:nvPr/>
        </p:nvSpPr>
        <p:spPr>
          <a:xfrm>
            <a:off x="1016000" y="4445000"/>
            <a:ext cx="2616200" cy="92333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• меньше ручных сверок
• архитектурная модель используется машинно
• drift обнаруживается до инцидента
• восстановление через operator-ы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300D859-58C5-494E-9528-43303B5C97DD}"/>
              </a:ext>
            </a:extLst>
          </p:cNvPr>
          <p:cNvSpPr/>
          <p:nvPr/>
        </p:nvSpPr>
        <p:spPr>
          <a:xfrm>
            <a:off x="4508500" y="3657600"/>
            <a:ext cx="3175000" cy="2057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60D86-CE90-4B92-BB4C-F23FDBA5AB32}"/>
              </a:ext>
            </a:extLst>
          </p:cNvPr>
          <p:cNvSpPr txBox="1"/>
          <p:nvPr/>
        </p:nvSpPr>
        <p:spPr>
          <a:xfrm>
            <a:off x="4787900" y="3937000"/>
            <a:ext cx="26162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2B2B2E"/>
                </a:solidFill>
                <a:latin typeface="Segoe UI Semibold" panose="020B0702040204020203" pitchFamily="34" charset="0"/>
              </a:rPr>
              <a:t>Расширяемость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6D3E44-2406-46AB-AC8E-4F16836A1458}"/>
              </a:ext>
            </a:extLst>
          </p:cNvPr>
          <p:cNvSpPr txBox="1"/>
          <p:nvPr/>
        </p:nvSpPr>
        <p:spPr>
          <a:xfrm>
            <a:off x="4787900" y="4445000"/>
            <a:ext cx="2616200" cy="92333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• новые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actual-state sources: NetBox, CMDB, Prometheus
•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новые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detector-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ы и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operator-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ы
•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version/config/health drift
• persistence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истории и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job state</a:t>
            </a:r>
            <a:endParaRPr lang="ru-RU" sz="12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48AEF8E-603D-460C-978B-60DBA36EB331}"/>
              </a:ext>
            </a:extLst>
          </p:cNvPr>
          <p:cNvSpPr/>
          <p:nvPr/>
        </p:nvSpPr>
        <p:spPr>
          <a:xfrm>
            <a:off x="8280400" y="3657600"/>
            <a:ext cx="3175000" cy="205740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A703DF-2064-4ADF-A7A3-AE1DE1B89A9A}"/>
              </a:ext>
            </a:extLst>
          </p:cNvPr>
          <p:cNvSpPr txBox="1"/>
          <p:nvPr/>
        </p:nvSpPr>
        <p:spPr>
          <a:xfrm>
            <a:off x="8559800" y="3937000"/>
            <a:ext cx="26162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900">
                <a:solidFill>
                  <a:srgbClr val="2B2B2E"/>
                </a:solidFill>
                <a:latin typeface="Segoe UI Semibold" panose="020B0702040204020203" pitchFamily="34" charset="0"/>
              </a:rPr>
              <a:t>Границы </a:t>
            </a:r>
            <a:r>
              <a:rPr lang="en-US" sz="1900">
                <a:solidFill>
                  <a:srgbClr val="2B2B2E"/>
                </a:solidFill>
                <a:latin typeface="Segoe UI Semibold" panose="020B0702040204020203" pitchFamily="34" charset="0"/>
              </a:rPr>
              <a:t>MVP</a:t>
            </a:r>
            <a:endParaRPr lang="ru-RU" sz="1900">
              <a:solidFill>
                <a:srgbClr val="2B2B2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0BE1F-2165-4CFE-8552-ABC11B82D5B1}"/>
              </a:ext>
            </a:extLst>
          </p:cNvPr>
          <p:cNvSpPr txBox="1"/>
          <p:nvPr/>
        </p:nvSpPr>
        <p:spPr>
          <a:xfrm>
            <a:off x="8559800" y="4445000"/>
            <a:ext cx="2616200" cy="1107996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• in-memory state
•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два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workload
•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нет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authN/authZ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и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audit trail
•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нет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API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статуса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reconcile-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задачи
• результаты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benchmark </a:t>
            </a:r>
            <a:r>
              <a:rPr lang="ru-RU" sz="1200">
                <a:solidFill>
                  <a:srgbClr val="5B5E63"/>
                </a:solidFill>
                <a:latin typeface="Segoe UI" panose="020B0502040204020203" pitchFamily="34" charset="0"/>
              </a:rPr>
              <a:t>не являются </a:t>
            </a:r>
            <a:r>
              <a:rPr lang="en-US" sz="1200">
                <a:solidFill>
                  <a:srgbClr val="5B5E63"/>
                </a:solidFill>
                <a:latin typeface="Segoe UI" panose="020B0502040204020203" pitchFamily="34" charset="0"/>
              </a:rPr>
              <a:t>SLA</a:t>
            </a:r>
            <a:endParaRPr lang="ru-RU" sz="1200">
              <a:solidFill>
                <a:srgbClr val="5B5E63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6387EA-178F-474F-98DB-B3C3F1C842A0}"/>
              </a:ext>
            </a:extLst>
          </p:cNvPr>
          <p:cNvSpPr txBox="1"/>
          <p:nvPr/>
        </p:nvSpPr>
        <p:spPr>
          <a:xfrm>
            <a:off x="736600" y="61722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ru-RU" sz="1500" b="1">
                <a:solidFill>
                  <a:srgbClr val="FFFFFF"/>
                </a:solidFill>
                <a:latin typeface="Segoe UI Semibold" panose="020B0702040204020203" pitchFamily="34" charset="0"/>
              </a:rPr>
              <a:t>Итог: цель ВКР достигнута — реализован и проверен базовый цикл </a:t>
            </a:r>
            <a:r>
              <a:rPr lang="en-US" sz="1500" b="1">
                <a:solidFill>
                  <a:srgbClr val="FFFFFF"/>
                </a:solidFill>
                <a:latin typeface="Segoe UI Semibold" panose="020B0702040204020203" pitchFamily="34" charset="0"/>
              </a:rPr>
              <a:t>desired state → actual state → drift → reconcile.</a:t>
            </a:r>
            <a:endParaRPr lang="ru-RU" sz="15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BB9D58-ED5E-44E6-8A01-A5AFD6C8C608}"/>
              </a:ext>
            </a:extLst>
          </p:cNvPr>
          <p:cNvSpPr txBox="1"/>
          <p:nvPr/>
        </p:nvSpPr>
        <p:spPr>
          <a:xfrm>
            <a:off x="11747500" y="6502400"/>
            <a:ext cx="2540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ru-RU" sz="900">
                <a:solidFill>
                  <a:srgbClr val="52565C"/>
                </a:solidFill>
                <a:latin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56225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</Words>
  <Application>Microsoft Office PowerPoint</Application>
  <PresentationFormat>Произвольный</PresentationFormat>
  <Paragraphs>152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Segoe UI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Олег Концебалов</dc:creator>
  <cp:lastModifiedBy>Олег Концебалов</cp:lastModifiedBy>
  <cp:revision>1</cp:revision>
  <dcterms:created xsi:type="dcterms:W3CDTF">2026-05-05T19:02:46Z</dcterms:created>
  <dcterms:modified xsi:type="dcterms:W3CDTF">2026-05-05T19:02:46Z</dcterms:modified>
</cp:coreProperties>
</file>